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9" r:id="rId7"/>
    <p:sldId id="260" r:id="rId8"/>
    <p:sldId id="262" r:id="rId9"/>
    <p:sldId id="263" r:id="rId10"/>
    <p:sldId id="264" r:id="rId11"/>
    <p:sldId id="265" r:id="rId12"/>
    <p:sldId id="531" r:id="rId13"/>
    <p:sldId id="532" r:id="rId14"/>
    <p:sldId id="533" r:id="rId15"/>
    <p:sldId id="534" r:id="rId16"/>
    <p:sldId id="267" r:id="rId1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C1035-C251-4C86-A69B-1E15B18D664D}" v="10" dt="2026-08-26T12:50:41.770"/>
    <p1510:client id="{E55582AB-1247-4BCE-8F83-DE796E3C7BBC}" v="2" dt="2026-08-26T13:40:37.026"/>
    <p1510:client id="{FC90AF26-5B3C-4185-BA93-1A67FFABB9CF}" v="8" dt="2026-08-26T13:48:45.1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979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mor Da Silva" userId="d9af8eb8-bb17-4ccb-acdc-5e16e2789769" providerId="ADAL" clId="{40BEBB42-82F9-4825-A0BA-F0A6BACF31BF}"/>
    <pc:docChg chg="undo custSel addSld delSld modSld">
      <pc:chgData name="Gilmor Da Silva" userId="d9af8eb8-bb17-4ccb-acdc-5e16e2789769" providerId="ADAL" clId="{40BEBB42-82F9-4825-A0BA-F0A6BACF31BF}" dt="2026-08-26T12:50:41.770" v="134"/>
      <pc:docMkLst>
        <pc:docMk/>
      </pc:docMkLst>
      <pc:sldChg chg="delSp mod">
        <pc:chgData name="Gilmor Da Silva" userId="d9af8eb8-bb17-4ccb-acdc-5e16e2789769" providerId="ADAL" clId="{40BEBB42-82F9-4825-A0BA-F0A6BACF31BF}" dt="2026-08-14T12:32:51.447" v="41" actId="478"/>
        <pc:sldMkLst>
          <pc:docMk/>
          <pc:sldMk cId="0" sldId="256"/>
        </pc:sldMkLst>
      </pc:sldChg>
      <pc:sldChg chg="modSp mod">
        <pc:chgData name="Gilmor Da Silva" userId="d9af8eb8-bb17-4ccb-acdc-5e16e2789769" providerId="ADAL" clId="{40BEBB42-82F9-4825-A0BA-F0A6BACF31BF}" dt="2026-08-26T12:50:41.770" v="134"/>
        <pc:sldMkLst>
          <pc:docMk/>
          <pc:sldMk cId="3418983785" sldId="531"/>
        </pc:sldMkLst>
        <pc:graphicFrameChg chg="mod modGraphic">
          <ac:chgData name="Gilmor Da Silva" userId="d9af8eb8-bb17-4ccb-acdc-5e16e2789769" providerId="ADAL" clId="{40BEBB42-82F9-4825-A0BA-F0A6BACF31BF}" dt="2026-08-26T12:50:41.770" v="134"/>
          <ac:graphicFrameMkLst>
            <pc:docMk/>
            <pc:sldMk cId="3418983785" sldId="531"/>
            <ac:graphicFrameMk id="10" creationId="{79293D26-08EF-8B68-0033-24520CDEFE02}"/>
          </ac:graphicFrameMkLst>
        </pc:graphicFrameChg>
      </pc:sldChg>
      <pc:sldChg chg="modSp mod">
        <pc:chgData name="Gilmor Da Silva" userId="d9af8eb8-bb17-4ccb-acdc-5e16e2789769" providerId="ADAL" clId="{40BEBB42-82F9-4825-A0BA-F0A6BACF31BF}" dt="2026-08-26T12:43:31.801" v="67" actId="313"/>
        <pc:sldMkLst>
          <pc:docMk/>
          <pc:sldMk cId="197266552" sldId="532"/>
        </pc:sldMkLst>
        <pc:graphicFrameChg chg="mod modGraphic">
          <ac:chgData name="Gilmor Da Silva" userId="d9af8eb8-bb17-4ccb-acdc-5e16e2789769" providerId="ADAL" clId="{40BEBB42-82F9-4825-A0BA-F0A6BACF31BF}" dt="2026-08-26T12:43:31.801" v="67" actId="313"/>
          <ac:graphicFrameMkLst>
            <pc:docMk/>
            <pc:sldMk cId="197266552" sldId="532"/>
            <ac:graphicFrameMk id="3" creationId="{ED0C42D7-F14C-604F-0CBE-576604716F1B}"/>
          </ac:graphicFrameMkLst>
        </pc:graphicFrameChg>
      </pc:sldChg>
      <pc:sldChg chg="new del">
        <pc:chgData name="Gilmor Da Silva" userId="d9af8eb8-bb17-4ccb-acdc-5e16e2789769" providerId="ADAL" clId="{40BEBB42-82F9-4825-A0BA-F0A6BACF31BF}" dt="2026-08-26T12:45:06.021" v="69" actId="2696"/>
        <pc:sldMkLst>
          <pc:docMk/>
          <pc:sldMk cId="3274278655" sldId="535"/>
        </pc:sldMkLst>
      </pc:sldChg>
    </pc:docChg>
  </pc:docChgLst>
  <pc:docChgLst>
    <pc:chgData name="Gustavo Coelho de Queiroz" userId="3fa1d190-6219-4c81-b977-0cf7cf0a3c86" providerId="ADAL" clId="{BAE0357D-884A-45FA-ACFE-C0A4E10622B5}"/>
    <pc:docChg chg="modSld">
      <pc:chgData name="Gustavo Coelho de Queiroz" userId="3fa1d190-6219-4c81-b977-0cf7cf0a3c86" providerId="ADAL" clId="{BAE0357D-884A-45FA-ACFE-C0A4E10622B5}" dt="2026-08-26T13:40:37.026" v="1" actId="20577"/>
      <pc:docMkLst>
        <pc:docMk/>
      </pc:docMkLst>
      <pc:sldChg chg="modSp mod">
        <pc:chgData name="Gustavo Coelho de Queiroz" userId="3fa1d190-6219-4c81-b977-0cf7cf0a3c86" providerId="ADAL" clId="{BAE0357D-884A-45FA-ACFE-C0A4E10622B5}" dt="2026-08-26T13:40:37.026" v="1" actId="20577"/>
        <pc:sldMkLst>
          <pc:docMk/>
          <pc:sldMk cId="197266552" sldId="532"/>
        </pc:sldMkLst>
        <pc:graphicFrameChg chg="modGraphic">
          <ac:chgData name="Gustavo Coelho de Queiroz" userId="3fa1d190-6219-4c81-b977-0cf7cf0a3c86" providerId="ADAL" clId="{BAE0357D-884A-45FA-ACFE-C0A4E10622B5}" dt="2026-08-26T13:40:37.026" v="1" actId="20577"/>
          <ac:graphicFrameMkLst>
            <pc:docMk/>
            <pc:sldMk cId="197266552" sldId="532"/>
            <ac:graphicFrameMk id="3" creationId="{ED0C42D7-F14C-604F-0CBE-576604716F1B}"/>
          </ac:graphicFrameMkLst>
        </pc:graphicFrameChg>
      </pc:sldChg>
    </pc:docChg>
  </pc:docChgLst>
  <pc:docChgLst>
    <pc:chgData name="Kevin William dos Santos Razera" userId="33baaf09-6692-405c-86df-24ce79ed5f5e" providerId="ADAL" clId="{45454B11-08CD-4403-B4D6-9F3963FC4397}"/>
    <pc:docChg chg="undo custSel modSld">
      <pc:chgData name="Kevin William dos Santos Razera" userId="33baaf09-6692-405c-86df-24ce79ed5f5e" providerId="ADAL" clId="{45454B11-08CD-4403-B4D6-9F3963FC4397}" dt="2026-08-26T13:48:45.125" v="104" actId="2165"/>
      <pc:docMkLst>
        <pc:docMk/>
      </pc:docMkLst>
      <pc:sldChg chg="addSp modSp mod">
        <pc:chgData name="Kevin William dos Santos Razera" userId="33baaf09-6692-405c-86df-24ce79ed5f5e" providerId="ADAL" clId="{45454B11-08CD-4403-B4D6-9F3963FC4397}" dt="2026-08-12T20:55:50.415" v="88"/>
        <pc:sldMkLst>
          <pc:docMk/>
          <pc:sldMk cId="0" sldId="256"/>
        </pc:sldMkLst>
        <pc:spChg chg="mod">
          <ac:chgData name="Kevin William dos Santos Razera" userId="33baaf09-6692-405c-86df-24ce79ed5f5e" providerId="ADAL" clId="{45454B11-08CD-4403-B4D6-9F3963FC4397}" dt="2026-08-12T20:55:50.415" v="88"/>
          <ac:spMkLst>
            <pc:docMk/>
            <pc:sldMk cId="0" sldId="256"/>
            <ac:spMk id="5" creationId="{88B559D7-9395-43C2-F0FF-C3F776129831}"/>
          </ac:spMkLst>
        </pc:spChg>
        <pc:spChg chg="mod">
          <ac:chgData name="Kevin William dos Santos Razera" userId="33baaf09-6692-405c-86df-24ce79ed5f5e" providerId="ADAL" clId="{45454B11-08CD-4403-B4D6-9F3963FC4397}" dt="2026-08-11T16:48:18.112" v="47" actId="12788"/>
          <ac:spMkLst>
            <pc:docMk/>
            <pc:sldMk cId="0" sldId="256"/>
            <ac:spMk id="6" creationId="{16A7666C-4E60-51DC-5E18-9DA3D6250B3B}"/>
          </ac:spMkLst>
        </pc:spChg>
      </pc:sldChg>
      <pc:sldChg chg="addSp delSp modSp mod">
        <pc:chgData name="Kevin William dos Santos Razera" userId="33baaf09-6692-405c-86df-24ce79ed5f5e" providerId="ADAL" clId="{45454B11-08CD-4403-B4D6-9F3963FC4397}" dt="2026-08-26T13:29:59.174" v="102" actId="22"/>
        <pc:sldMkLst>
          <pc:docMk/>
          <pc:sldMk cId="3418983785" sldId="531"/>
        </pc:sldMkLst>
        <pc:graphicFrameChg chg="add del">
          <ac:chgData name="Kevin William dos Santos Razera" userId="33baaf09-6692-405c-86df-24ce79ed5f5e" providerId="ADAL" clId="{45454B11-08CD-4403-B4D6-9F3963FC4397}" dt="2026-08-26T13:29:57.407" v="100" actId="22"/>
          <ac:graphicFrameMkLst>
            <pc:docMk/>
            <pc:sldMk cId="3418983785" sldId="531"/>
            <ac:graphicFrameMk id="3" creationId="{2AF1409E-B122-2370-9A5E-2D632AA40941}"/>
          </ac:graphicFrameMkLst>
        </pc:graphicFrameChg>
        <pc:graphicFrameChg chg="add">
          <ac:chgData name="Kevin William dos Santos Razera" userId="33baaf09-6692-405c-86df-24ce79ed5f5e" providerId="ADAL" clId="{45454B11-08CD-4403-B4D6-9F3963FC4397}" dt="2026-08-26T13:29:59.174" v="102" actId="22"/>
          <ac:graphicFrameMkLst>
            <pc:docMk/>
            <pc:sldMk cId="3418983785" sldId="531"/>
            <ac:graphicFrameMk id="8" creationId="{CFD46491-551E-FE3E-16E9-58314811C1DC}"/>
          </ac:graphicFrameMkLst>
        </pc:graphicFrameChg>
        <pc:graphicFrameChg chg="del mod modGraphic">
          <ac:chgData name="Kevin William dos Santos Razera" userId="33baaf09-6692-405c-86df-24ce79ed5f5e" providerId="ADAL" clId="{45454B11-08CD-4403-B4D6-9F3963FC4397}" dt="2026-08-26T13:29:58.509" v="101" actId="478"/>
          <ac:graphicFrameMkLst>
            <pc:docMk/>
            <pc:sldMk cId="3418983785" sldId="531"/>
            <ac:graphicFrameMk id="10" creationId="{79293D26-08EF-8B68-0033-24520CDEFE02}"/>
          </ac:graphicFrameMkLst>
        </pc:graphicFrameChg>
      </pc:sldChg>
      <pc:sldChg chg="modSp mod">
        <pc:chgData name="Kevin William dos Santos Razera" userId="33baaf09-6692-405c-86df-24ce79ed5f5e" providerId="ADAL" clId="{45454B11-08CD-4403-B4D6-9F3963FC4397}" dt="2026-08-26T13:48:45.125" v="104" actId="2165"/>
        <pc:sldMkLst>
          <pc:docMk/>
          <pc:sldMk cId="197266552" sldId="532"/>
        </pc:sldMkLst>
        <pc:graphicFrameChg chg="modGraphic">
          <ac:chgData name="Kevin William dos Santos Razera" userId="33baaf09-6692-405c-86df-24ce79ed5f5e" providerId="ADAL" clId="{45454B11-08CD-4403-B4D6-9F3963FC4397}" dt="2026-08-26T13:48:45.125" v="104" actId="2165"/>
          <ac:graphicFrameMkLst>
            <pc:docMk/>
            <pc:sldMk cId="197266552" sldId="532"/>
            <ac:graphicFrameMk id="3" creationId="{ED0C42D7-F14C-604F-0CBE-576604716F1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E2F7C-6E0E-444A-BD2A-B5067976E0D6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A164-FE6A-431D-9900-7E388EA835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4712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50" b="0" i="0">
                <a:solidFill>
                  <a:srgbClr val="2B2B7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50" b="0" i="0">
                <a:solidFill>
                  <a:srgbClr val="2B2B7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50" b="0" i="0">
                <a:solidFill>
                  <a:srgbClr val="2B2B7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D12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088850" y="1556706"/>
            <a:ext cx="13843000" cy="0"/>
          </a:xfrm>
          <a:custGeom>
            <a:avLst/>
            <a:gdLst/>
            <a:ahLst/>
            <a:cxnLst/>
            <a:rect l="l" t="t" r="r" b="b"/>
            <a:pathLst>
              <a:path w="13843000">
                <a:moveTo>
                  <a:pt x="0" y="0"/>
                </a:moveTo>
                <a:lnTo>
                  <a:pt x="13842510" y="0"/>
                </a:lnTo>
              </a:path>
            </a:pathLst>
          </a:custGeom>
          <a:ln w="20941">
            <a:solidFill>
              <a:srgbClr val="2B2B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50" b="0" i="0">
                <a:solidFill>
                  <a:srgbClr val="2B2B7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D12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1386" y="1844207"/>
            <a:ext cx="18261326" cy="283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50" b="0" i="0">
                <a:solidFill>
                  <a:srgbClr val="2B2B7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27252" y="3880438"/>
            <a:ext cx="11331575" cy="341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1694" y="7864475"/>
            <a:ext cx="6319005" cy="31611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1950" spc="-60">
                <a:solidFill>
                  <a:srgbClr val="FFFFFF"/>
                </a:solidFill>
                <a:latin typeface="Verdana"/>
                <a:cs typeface="Verdana"/>
              </a:rPr>
              <a:t>PROPOSTA </a:t>
            </a:r>
            <a:r>
              <a:rPr sz="1950" spc="-5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950" spc="-2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950" spc="-2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950" spc="-2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8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2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7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950" spc="-2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950" spc="-2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6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950" spc="-2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6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3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950" spc="4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>
                <a:solidFill>
                  <a:srgbClr val="FFFFFF"/>
                </a:solidFill>
                <a:latin typeface="Verdana"/>
                <a:cs typeface="Verdana"/>
              </a:rPr>
              <a:t>|</a:t>
            </a:r>
            <a:r>
              <a:rPr sz="1950" spc="4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4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950" spc="-2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8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950" spc="-2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950" spc="-2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6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950" spc="-2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6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3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1950" spc="4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9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950" spc="-2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950" spc="4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5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950" spc="-2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6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2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5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950" spc="-2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950">
              <a:latin typeface="Verdana"/>
              <a:cs typeface="Verdana"/>
            </a:endParaRPr>
          </a:p>
        </p:txBody>
      </p:sp>
      <p:pic>
        <p:nvPicPr>
          <p:cNvPr id="3" name="object 3" descr="Image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2213" y="7670761"/>
            <a:ext cx="7186796" cy="1816489"/>
          </a:xfrm>
          <a:prstGeom prst="rect">
            <a:avLst/>
          </a:prstGeom>
        </p:spPr>
      </p:pic>
      <p:pic>
        <p:nvPicPr>
          <p:cNvPr id="4" name="object 4" descr="magnific_premium-radiology-environ_2962091900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962" y="202506"/>
            <a:ext cx="19720132" cy="6058977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88B559D7-9395-43C2-F0FF-C3F776129831}"/>
              </a:ext>
            </a:extLst>
          </p:cNvPr>
          <p:cNvSpPr txBox="1"/>
          <p:nvPr/>
        </p:nvSpPr>
        <p:spPr>
          <a:xfrm>
            <a:off x="10225368" y="8492741"/>
            <a:ext cx="9251657" cy="5012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>
                <a:solidFill>
                  <a:schemeClr val="bg1"/>
                </a:solidFill>
                <a:latin typeface="Segoe UI" panose="020B0502040204020203" pitchFamily="34" charset="0"/>
              </a:rPr>
              <a:t>#RAZÃO SOCIAL#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6A7666C-4E60-51DC-5E18-9DA3D6250B3B}"/>
              </a:ext>
            </a:extLst>
          </p:cNvPr>
          <p:cNvSpPr txBox="1"/>
          <p:nvPr/>
        </p:nvSpPr>
        <p:spPr>
          <a:xfrm>
            <a:off x="11691694" y="9593623"/>
            <a:ext cx="6319005" cy="58208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000" b="1">
                <a:solidFill>
                  <a:schemeClr val="bg1"/>
                </a:solidFill>
                <a:latin typeface="Segoe UI" panose="020B0502040204020203" pitchFamily="34" charset="0"/>
              </a:rPr>
              <a:t>#</a:t>
            </a:r>
            <a:r>
              <a:rPr lang="pt-BR" sz="2800" b="1">
                <a:solidFill>
                  <a:schemeClr val="bg1"/>
                </a:solidFill>
                <a:latin typeface="Segoe UI" panose="020B0502040204020203" pitchFamily="34" charset="0"/>
              </a:rPr>
              <a:t>MES</a:t>
            </a:r>
            <a:r>
              <a:rPr lang="pt-BR" sz="2000" b="1">
                <a:solidFill>
                  <a:schemeClr val="bg1"/>
                </a:solidFill>
                <a:latin typeface="Segoe UI" panose="020B0502040204020203" pitchFamily="34" charset="0"/>
              </a:rPr>
              <a:t>#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8F6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2"/>
            <a:ext cx="20104100" cy="11308715"/>
            <a:chOff x="0" y="-2"/>
            <a:chExt cx="20104100" cy="11308715"/>
          </a:xfrm>
        </p:grpSpPr>
        <p:pic>
          <p:nvPicPr>
            <p:cNvPr id="4" name="object 4" descr="magnific_modern-radiology-departme_2962050869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10494444" cy="1130855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039890" y="0"/>
              <a:ext cx="13064490" cy="11308715"/>
            </a:xfrm>
            <a:custGeom>
              <a:avLst/>
              <a:gdLst/>
              <a:ahLst/>
              <a:cxnLst/>
              <a:rect l="l" t="t" r="r" b="b"/>
              <a:pathLst>
                <a:path w="13064490" h="11308715">
                  <a:moveTo>
                    <a:pt x="13064209" y="0"/>
                  </a:moveTo>
                  <a:lnTo>
                    <a:pt x="827617" y="0"/>
                  </a:lnTo>
                  <a:lnTo>
                    <a:pt x="778992" y="1405"/>
                  </a:lnTo>
                  <a:lnTo>
                    <a:pt x="731105" y="5568"/>
                  </a:lnTo>
                  <a:lnTo>
                    <a:pt x="684036" y="12412"/>
                  </a:lnTo>
                  <a:lnTo>
                    <a:pt x="637861" y="21859"/>
                  </a:lnTo>
                  <a:lnTo>
                    <a:pt x="592659" y="33831"/>
                  </a:lnTo>
                  <a:lnTo>
                    <a:pt x="548507" y="48250"/>
                  </a:lnTo>
                  <a:lnTo>
                    <a:pt x="505483" y="65040"/>
                  </a:lnTo>
                  <a:lnTo>
                    <a:pt x="463664" y="84122"/>
                  </a:lnTo>
                  <a:lnTo>
                    <a:pt x="423129" y="105418"/>
                  </a:lnTo>
                  <a:lnTo>
                    <a:pt x="383954" y="128852"/>
                  </a:lnTo>
                  <a:lnTo>
                    <a:pt x="346217" y="154344"/>
                  </a:lnTo>
                  <a:lnTo>
                    <a:pt x="309996" y="181818"/>
                  </a:lnTo>
                  <a:lnTo>
                    <a:pt x="275369" y="211196"/>
                  </a:lnTo>
                  <a:lnTo>
                    <a:pt x="242414" y="242401"/>
                  </a:lnTo>
                  <a:lnTo>
                    <a:pt x="211207" y="275353"/>
                  </a:lnTo>
                  <a:lnTo>
                    <a:pt x="181827" y="309977"/>
                  </a:lnTo>
                  <a:lnTo>
                    <a:pt x="154351" y="346194"/>
                  </a:lnTo>
                  <a:lnTo>
                    <a:pt x="128856" y="383926"/>
                  </a:lnTo>
                  <a:lnTo>
                    <a:pt x="105422" y="423096"/>
                  </a:lnTo>
                  <a:lnTo>
                    <a:pt x="84124" y="463626"/>
                  </a:lnTo>
                  <a:lnTo>
                    <a:pt x="65042" y="505439"/>
                  </a:lnTo>
                  <a:lnTo>
                    <a:pt x="48251" y="548457"/>
                  </a:lnTo>
                  <a:lnTo>
                    <a:pt x="33831" y="592601"/>
                  </a:lnTo>
                  <a:lnTo>
                    <a:pt x="21859" y="637795"/>
                  </a:lnTo>
                  <a:lnTo>
                    <a:pt x="12412" y="683961"/>
                  </a:lnTo>
                  <a:lnTo>
                    <a:pt x="5568" y="731022"/>
                  </a:lnTo>
                  <a:lnTo>
                    <a:pt x="1405" y="778898"/>
                  </a:lnTo>
                  <a:lnTo>
                    <a:pt x="0" y="827514"/>
                  </a:lnTo>
                  <a:lnTo>
                    <a:pt x="0" y="10480989"/>
                  </a:lnTo>
                  <a:lnTo>
                    <a:pt x="1405" y="10529615"/>
                  </a:lnTo>
                  <a:lnTo>
                    <a:pt x="5568" y="10577501"/>
                  </a:lnTo>
                  <a:lnTo>
                    <a:pt x="12412" y="10624570"/>
                  </a:lnTo>
                  <a:lnTo>
                    <a:pt x="21859" y="10670743"/>
                  </a:lnTo>
                  <a:lnTo>
                    <a:pt x="33831" y="10715944"/>
                  </a:lnTo>
                  <a:lnTo>
                    <a:pt x="48251" y="10760094"/>
                  </a:lnTo>
                  <a:lnTo>
                    <a:pt x="65042" y="10803116"/>
                  </a:lnTo>
                  <a:lnTo>
                    <a:pt x="84124" y="10844933"/>
                  </a:lnTo>
                  <a:lnTo>
                    <a:pt x="105422" y="10885466"/>
                  </a:lnTo>
                  <a:lnTo>
                    <a:pt x="128856" y="10924639"/>
                  </a:lnTo>
                  <a:lnTo>
                    <a:pt x="154351" y="10962373"/>
                  </a:lnTo>
                  <a:lnTo>
                    <a:pt x="181827" y="10998591"/>
                  </a:lnTo>
                  <a:lnTo>
                    <a:pt x="211207" y="11033215"/>
                  </a:lnTo>
                  <a:lnTo>
                    <a:pt x="242414" y="11066168"/>
                  </a:lnTo>
                  <a:lnTo>
                    <a:pt x="275369" y="11097372"/>
                  </a:lnTo>
                  <a:lnTo>
                    <a:pt x="309996" y="11126749"/>
                  </a:lnTo>
                  <a:lnTo>
                    <a:pt x="346217" y="11154223"/>
                  </a:lnTo>
                  <a:lnTo>
                    <a:pt x="383954" y="11179714"/>
                  </a:lnTo>
                  <a:lnTo>
                    <a:pt x="423129" y="11203146"/>
                  </a:lnTo>
                  <a:lnTo>
                    <a:pt x="463664" y="11224441"/>
                  </a:lnTo>
                  <a:lnTo>
                    <a:pt x="505483" y="11243522"/>
                  </a:lnTo>
                  <a:lnTo>
                    <a:pt x="548507" y="11260310"/>
                  </a:lnTo>
                  <a:lnTo>
                    <a:pt x="592659" y="11274728"/>
                  </a:lnTo>
                  <a:lnTo>
                    <a:pt x="637861" y="11286699"/>
                  </a:lnTo>
                  <a:lnTo>
                    <a:pt x="684036" y="11296145"/>
                  </a:lnTo>
                  <a:lnTo>
                    <a:pt x="731105" y="11302988"/>
                  </a:lnTo>
                  <a:lnTo>
                    <a:pt x="778992" y="11307151"/>
                  </a:lnTo>
                  <a:lnTo>
                    <a:pt x="827618" y="11308556"/>
                  </a:lnTo>
                  <a:lnTo>
                    <a:pt x="13064209" y="11308556"/>
                  </a:lnTo>
                  <a:lnTo>
                    <a:pt x="13064209" y="0"/>
                  </a:lnTo>
                  <a:close/>
                </a:path>
              </a:pathLst>
            </a:custGeom>
            <a:solidFill>
              <a:srgbClr val="2B2B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spc="-50"/>
              <a:t>Operações</a:t>
            </a:r>
            <a:r>
              <a:rPr spc="-770"/>
              <a:t> </a:t>
            </a:r>
            <a:r>
              <a:rPr spc="-10"/>
              <a:t>estruturadas </a:t>
            </a:r>
            <a:r>
              <a:rPr spc="-245"/>
              <a:t>geram</a:t>
            </a:r>
            <a:r>
              <a:rPr spc="-775"/>
              <a:t> </a:t>
            </a:r>
            <a:r>
              <a:rPr spc="-85"/>
              <a:t>resultados</a:t>
            </a:r>
            <a:r>
              <a:rPr spc="-770"/>
              <a:t> </a:t>
            </a:r>
            <a:r>
              <a:rPr spc="-50"/>
              <a:t>sólidos </a:t>
            </a:r>
            <a:r>
              <a:t>e</a:t>
            </a:r>
            <a:r>
              <a:rPr spc="-805"/>
              <a:t> </a:t>
            </a:r>
            <a:r>
              <a:rPr spc="-45"/>
              <a:t>pacientes</a:t>
            </a:r>
            <a:r>
              <a:rPr spc="-800"/>
              <a:t> </a:t>
            </a:r>
            <a:r>
              <a:rPr spc="-10"/>
              <a:t>satisfeitos.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392799" y="1081716"/>
            <a:ext cx="3298825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5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50" spc="2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95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95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95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950" spc="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|</a:t>
            </a:r>
            <a:r>
              <a:rPr sz="950" spc="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950" spc="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95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950" spc="-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86099" y="8119198"/>
            <a:ext cx="4831080" cy="719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1950" spc="-85">
                <a:solidFill>
                  <a:srgbClr val="FFFFFF"/>
                </a:solidFill>
                <a:latin typeface="Verdana"/>
                <a:cs typeface="Verdana"/>
              </a:rPr>
              <a:t>Mais</a:t>
            </a:r>
            <a:r>
              <a:rPr sz="1950" spc="-2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35">
                <a:solidFill>
                  <a:srgbClr val="FFFFFF"/>
                </a:solidFill>
                <a:latin typeface="Verdana"/>
                <a:cs typeface="Verdana"/>
              </a:rPr>
              <a:t>agilidade</a:t>
            </a:r>
            <a:r>
              <a:rPr sz="195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0">
                <a:solidFill>
                  <a:srgbClr val="FFFFFF"/>
                </a:solidFill>
                <a:latin typeface="Verdana"/>
                <a:cs typeface="Verdana"/>
              </a:rPr>
              <a:t>nos</a:t>
            </a:r>
            <a:r>
              <a:rPr sz="1950" spc="-2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14">
                <a:solidFill>
                  <a:srgbClr val="FFFFFF"/>
                </a:solidFill>
                <a:latin typeface="Verdana"/>
                <a:cs typeface="Verdana"/>
              </a:rPr>
              <a:t>laudos,</a:t>
            </a:r>
            <a:r>
              <a:rPr sz="1950" spc="-2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35">
                <a:solidFill>
                  <a:srgbClr val="FFFFFF"/>
                </a:solidFill>
                <a:latin typeface="Verdana"/>
                <a:cs typeface="Verdana"/>
              </a:rPr>
              <a:t>segurança</a:t>
            </a:r>
            <a:r>
              <a:rPr sz="1950" spc="-2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0">
                <a:solidFill>
                  <a:srgbClr val="FFFFFF"/>
                </a:solidFill>
                <a:latin typeface="Verdana"/>
                <a:cs typeface="Verdana"/>
              </a:rPr>
              <a:t>clínica </a:t>
            </a:r>
            <a:r>
              <a:rPr sz="1950" spc="-11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950" spc="-3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90">
                <a:solidFill>
                  <a:srgbClr val="FFFFFF"/>
                </a:solidFill>
                <a:latin typeface="Verdana"/>
                <a:cs typeface="Verdana"/>
              </a:rPr>
              <a:t>escala</a:t>
            </a:r>
            <a:r>
              <a:rPr sz="1950" spc="-3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95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50" spc="-3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95">
                <a:solidFill>
                  <a:srgbClr val="FFFFFF"/>
                </a:solidFill>
                <a:latin typeface="Verdana"/>
                <a:cs typeface="Verdana"/>
              </a:rPr>
              <a:t>crescimento</a:t>
            </a:r>
            <a:r>
              <a:rPr sz="1950" spc="-2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4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950" spc="-2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950" spc="-3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20">
                <a:solidFill>
                  <a:srgbClr val="FFFFFF"/>
                </a:solidFill>
                <a:latin typeface="Verdana"/>
                <a:cs typeface="Verdana"/>
              </a:rPr>
              <a:t>sua</a:t>
            </a:r>
            <a:r>
              <a:rPr sz="1950" spc="-2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20">
                <a:solidFill>
                  <a:srgbClr val="FFFFFF"/>
                </a:solidFill>
                <a:latin typeface="Verdana"/>
                <a:cs typeface="Verdana"/>
              </a:rPr>
              <a:t>unidade.</a:t>
            </a:r>
            <a:endParaRPr sz="19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435240" y="1051297"/>
            <a:ext cx="10496550" cy="7882255"/>
            <a:chOff x="8435240" y="1051297"/>
            <a:chExt cx="10496550" cy="7882255"/>
          </a:xfrm>
        </p:grpSpPr>
        <p:sp>
          <p:nvSpPr>
            <p:cNvPr id="10" name="object 10"/>
            <p:cNvSpPr/>
            <p:nvPr/>
          </p:nvSpPr>
          <p:spPr>
            <a:xfrm>
              <a:off x="12219523" y="1556706"/>
              <a:ext cx="6711950" cy="0"/>
            </a:xfrm>
            <a:custGeom>
              <a:avLst/>
              <a:gdLst/>
              <a:ahLst/>
              <a:cxnLst/>
              <a:rect l="l" t="t" r="r" b="b"/>
              <a:pathLst>
                <a:path w="6711950">
                  <a:moveTo>
                    <a:pt x="0" y="0"/>
                  </a:moveTo>
                  <a:lnTo>
                    <a:pt x="6711837" y="0"/>
                  </a:lnTo>
                </a:path>
              </a:pathLst>
            </a:custGeom>
            <a:ln w="20941">
              <a:solidFill>
                <a:srgbClr val="0D12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549893" y="7976720"/>
              <a:ext cx="946150" cy="946150"/>
            </a:xfrm>
            <a:custGeom>
              <a:avLst/>
              <a:gdLst/>
              <a:ahLst/>
              <a:cxnLst/>
              <a:rect l="l" t="t" r="r" b="b"/>
              <a:pathLst>
                <a:path w="946150" h="946150">
                  <a:moveTo>
                    <a:pt x="0" y="472969"/>
                  </a:moveTo>
                  <a:lnTo>
                    <a:pt x="2441" y="424623"/>
                  </a:lnTo>
                  <a:lnTo>
                    <a:pt x="9607" y="377670"/>
                  </a:lnTo>
                  <a:lnTo>
                    <a:pt x="21260" y="332349"/>
                  </a:lnTo>
                  <a:lnTo>
                    <a:pt x="37161" y="288898"/>
                  </a:lnTo>
                  <a:lnTo>
                    <a:pt x="57074" y="247555"/>
                  </a:lnTo>
                  <a:lnTo>
                    <a:pt x="80761" y="208558"/>
                  </a:lnTo>
                  <a:lnTo>
                    <a:pt x="107983" y="172146"/>
                  </a:lnTo>
                  <a:lnTo>
                    <a:pt x="138503" y="138555"/>
                  </a:lnTo>
                  <a:lnTo>
                    <a:pt x="172084" y="108025"/>
                  </a:lnTo>
                  <a:lnTo>
                    <a:pt x="208487" y="80794"/>
                  </a:lnTo>
                  <a:lnTo>
                    <a:pt x="247475" y="57099"/>
                  </a:lnTo>
                  <a:lnTo>
                    <a:pt x="288809" y="37178"/>
                  </a:lnTo>
                  <a:lnTo>
                    <a:pt x="332254" y="21269"/>
                  </a:lnTo>
                  <a:lnTo>
                    <a:pt x="377569" y="9611"/>
                  </a:lnTo>
                  <a:lnTo>
                    <a:pt x="424519" y="2442"/>
                  </a:lnTo>
                  <a:lnTo>
                    <a:pt x="472865" y="0"/>
                  </a:lnTo>
                  <a:lnTo>
                    <a:pt x="521229" y="2442"/>
                  </a:lnTo>
                  <a:lnTo>
                    <a:pt x="568195" y="9611"/>
                  </a:lnTo>
                  <a:lnTo>
                    <a:pt x="613524" y="21269"/>
                  </a:lnTo>
                  <a:lnTo>
                    <a:pt x="656980" y="37178"/>
                  </a:lnTo>
                  <a:lnTo>
                    <a:pt x="698326" y="57099"/>
                  </a:lnTo>
                  <a:lnTo>
                    <a:pt x="737322" y="80794"/>
                  </a:lnTo>
                  <a:lnTo>
                    <a:pt x="773732" y="108025"/>
                  </a:lnTo>
                  <a:lnTo>
                    <a:pt x="807318" y="138555"/>
                  </a:lnTo>
                  <a:lnTo>
                    <a:pt x="837842" y="172146"/>
                  </a:lnTo>
                  <a:lnTo>
                    <a:pt x="865068" y="208558"/>
                  </a:lnTo>
                  <a:lnTo>
                    <a:pt x="888757" y="247555"/>
                  </a:lnTo>
                  <a:lnTo>
                    <a:pt x="908671" y="288898"/>
                  </a:lnTo>
                  <a:lnTo>
                    <a:pt x="924574" y="332349"/>
                  </a:lnTo>
                  <a:lnTo>
                    <a:pt x="936227" y="377670"/>
                  </a:lnTo>
                  <a:lnTo>
                    <a:pt x="943393" y="424623"/>
                  </a:lnTo>
                  <a:lnTo>
                    <a:pt x="945835" y="472969"/>
                  </a:lnTo>
                  <a:lnTo>
                    <a:pt x="943393" y="521334"/>
                  </a:lnTo>
                  <a:lnTo>
                    <a:pt x="936227" y="568299"/>
                  </a:lnTo>
                  <a:lnTo>
                    <a:pt x="924574" y="613629"/>
                  </a:lnTo>
                  <a:lnTo>
                    <a:pt x="908671" y="657085"/>
                  </a:lnTo>
                  <a:lnTo>
                    <a:pt x="888757" y="698430"/>
                  </a:lnTo>
                  <a:lnTo>
                    <a:pt x="865068" y="737427"/>
                  </a:lnTo>
                  <a:lnTo>
                    <a:pt x="837842" y="773837"/>
                  </a:lnTo>
                  <a:lnTo>
                    <a:pt x="807318" y="807423"/>
                  </a:lnTo>
                  <a:lnTo>
                    <a:pt x="773732" y="837947"/>
                  </a:lnTo>
                  <a:lnTo>
                    <a:pt x="737322" y="865173"/>
                  </a:lnTo>
                  <a:lnTo>
                    <a:pt x="698326" y="888861"/>
                  </a:lnTo>
                  <a:lnTo>
                    <a:pt x="656980" y="908776"/>
                  </a:lnTo>
                  <a:lnTo>
                    <a:pt x="613524" y="924678"/>
                  </a:lnTo>
                  <a:lnTo>
                    <a:pt x="568195" y="936332"/>
                  </a:lnTo>
                  <a:lnTo>
                    <a:pt x="521229" y="943498"/>
                  </a:lnTo>
                  <a:lnTo>
                    <a:pt x="472865" y="945939"/>
                  </a:lnTo>
                  <a:lnTo>
                    <a:pt x="424519" y="943498"/>
                  </a:lnTo>
                  <a:lnTo>
                    <a:pt x="377569" y="936332"/>
                  </a:lnTo>
                  <a:lnTo>
                    <a:pt x="332254" y="924678"/>
                  </a:lnTo>
                  <a:lnTo>
                    <a:pt x="288809" y="908776"/>
                  </a:lnTo>
                  <a:lnTo>
                    <a:pt x="247475" y="888861"/>
                  </a:lnTo>
                  <a:lnTo>
                    <a:pt x="208487" y="865173"/>
                  </a:lnTo>
                  <a:lnTo>
                    <a:pt x="172084" y="837947"/>
                  </a:lnTo>
                  <a:lnTo>
                    <a:pt x="138503" y="807423"/>
                  </a:lnTo>
                  <a:lnTo>
                    <a:pt x="107983" y="773837"/>
                  </a:lnTo>
                  <a:lnTo>
                    <a:pt x="80761" y="737427"/>
                  </a:lnTo>
                  <a:lnTo>
                    <a:pt x="57074" y="698430"/>
                  </a:lnTo>
                  <a:lnTo>
                    <a:pt x="37161" y="657085"/>
                  </a:lnTo>
                  <a:lnTo>
                    <a:pt x="21260" y="613629"/>
                  </a:lnTo>
                  <a:lnTo>
                    <a:pt x="9607" y="568299"/>
                  </a:lnTo>
                  <a:lnTo>
                    <a:pt x="2441" y="521334"/>
                  </a:lnTo>
                  <a:lnTo>
                    <a:pt x="0" y="472969"/>
                  </a:lnTo>
                  <a:close/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892502" y="8352732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4">
                  <a:moveTo>
                    <a:pt x="260578" y="3073"/>
                  </a:moveTo>
                  <a:lnTo>
                    <a:pt x="232651" y="3073"/>
                  </a:lnTo>
                  <a:lnTo>
                    <a:pt x="232651" y="212890"/>
                  </a:lnTo>
                  <a:lnTo>
                    <a:pt x="19685" y="0"/>
                  </a:lnTo>
                  <a:lnTo>
                    <a:pt x="0" y="19685"/>
                  </a:lnTo>
                  <a:lnTo>
                    <a:pt x="212915" y="232702"/>
                  </a:lnTo>
                  <a:lnTo>
                    <a:pt x="2921" y="232702"/>
                  </a:lnTo>
                  <a:lnTo>
                    <a:pt x="2921" y="260629"/>
                  </a:lnTo>
                  <a:lnTo>
                    <a:pt x="257060" y="260629"/>
                  </a:lnTo>
                  <a:lnTo>
                    <a:pt x="257060" y="257162"/>
                  </a:lnTo>
                  <a:lnTo>
                    <a:pt x="260578" y="257162"/>
                  </a:lnTo>
                  <a:lnTo>
                    <a:pt x="260578" y="30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Imagem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5240" y="1051297"/>
              <a:ext cx="2305793" cy="5827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B2B7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 descr="magnific_cinematic-portrait-of-a-b_296246345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962" y="202506"/>
            <a:ext cx="19720132" cy="80333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876" y="2964678"/>
            <a:ext cx="17289145" cy="363982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4450" spc="-254">
                <a:solidFill>
                  <a:srgbClr val="FFFFFF"/>
                </a:solidFill>
                <a:latin typeface="Verdana"/>
                <a:cs typeface="Verdana"/>
              </a:rPr>
              <a:t>Telediagnóstico</a:t>
            </a:r>
            <a:r>
              <a:rPr sz="4450" spc="-7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450" spc="-254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4450" spc="-7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450" spc="-265">
                <a:solidFill>
                  <a:srgbClr val="FFFFFF"/>
                </a:solidFill>
                <a:latin typeface="Verdana"/>
                <a:cs typeface="Verdana"/>
              </a:rPr>
              <a:t>DNA</a:t>
            </a:r>
            <a:r>
              <a:rPr sz="4450" spc="-7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4450" spc="-415">
                <a:solidFill>
                  <a:srgbClr val="FFFFFF"/>
                </a:solidFill>
                <a:latin typeface="Verdana"/>
                <a:cs typeface="Verdana"/>
              </a:rPr>
              <a:t>Dasa:</a:t>
            </a:r>
            <a:endParaRPr sz="4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9200" b="1" spc="-55">
                <a:solidFill>
                  <a:srgbClr val="FFFFFF"/>
                </a:solidFill>
                <a:latin typeface="Tahoma"/>
                <a:cs typeface="Tahoma"/>
              </a:rPr>
              <a:t>Especialistas</a:t>
            </a:r>
            <a:r>
              <a:rPr sz="9200" b="1" spc="-9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175">
                <a:solidFill>
                  <a:srgbClr val="FFFFFF"/>
                </a:solidFill>
                <a:latin typeface="Tahoma"/>
                <a:cs typeface="Tahoma"/>
              </a:rPr>
              <a:t>à</a:t>
            </a:r>
            <a:r>
              <a:rPr sz="9200" b="1" spc="-96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170">
                <a:solidFill>
                  <a:srgbClr val="FFFFFF"/>
                </a:solidFill>
                <a:latin typeface="Tahoma"/>
                <a:cs typeface="Tahoma"/>
              </a:rPr>
              <a:t>sua</a:t>
            </a:r>
            <a:r>
              <a:rPr sz="9200" b="1" spc="-9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10">
                <a:solidFill>
                  <a:srgbClr val="FFFFFF"/>
                </a:solidFill>
                <a:latin typeface="Tahoma"/>
                <a:cs typeface="Tahoma"/>
              </a:rPr>
              <a:t>disposição,</a:t>
            </a:r>
            <a:endParaRPr sz="9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9200" spc="-66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200" spc="-15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200" spc="-660">
                <a:solidFill>
                  <a:srgbClr val="FFFFFF"/>
                </a:solidFill>
                <a:latin typeface="Verdana"/>
                <a:cs typeface="Verdana"/>
              </a:rPr>
              <a:t>qualquer</a:t>
            </a:r>
            <a:r>
              <a:rPr sz="9200" spc="-15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200" spc="-700">
                <a:solidFill>
                  <a:srgbClr val="FFFFFF"/>
                </a:solidFill>
                <a:latin typeface="Verdana"/>
                <a:cs typeface="Verdana"/>
              </a:rPr>
              <a:t>hora</a:t>
            </a:r>
            <a:endParaRPr sz="9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8878" y="8603687"/>
            <a:ext cx="3311525" cy="2106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95"/>
              </a:spcBef>
            </a:pPr>
            <a:r>
              <a:rPr sz="2950" spc="-165">
                <a:solidFill>
                  <a:srgbClr val="FFFFFF"/>
                </a:solidFill>
                <a:latin typeface="Verdana"/>
                <a:cs typeface="Verdana"/>
              </a:rPr>
              <a:t>Operação</a:t>
            </a:r>
            <a:r>
              <a:rPr sz="2950" spc="-4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7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950" spc="-4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65">
                <a:solidFill>
                  <a:srgbClr val="FFFFFF"/>
                </a:solidFill>
                <a:latin typeface="Verdana"/>
                <a:cs typeface="Verdana"/>
              </a:rPr>
              <a:t>laudos </a:t>
            </a:r>
            <a:r>
              <a:rPr sz="2950" spc="-220">
                <a:solidFill>
                  <a:srgbClr val="FFFFFF"/>
                </a:solidFill>
                <a:latin typeface="Verdana"/>
                <a:cs typeface="Verdana"/>
              </a:rPr>
              <a:t>à</a:t>
            </a:r>
            <a:r>
              <a:rPr sz="2950" spc="-4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55">
                <a:solidFill>
                  <a:srgbClr val="FFFFFF"/>
                </a:solidFill>
                <a:latin typeface="Verdana"/>
                <a:cs typeface="Verdana"/>
              </a:rPr>
              <a:t>distância</a:t>
            </a:r>
            <a:r>
              <a:rPr sz="2950" spc="-4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0">
                <a:solidFill>
                  <a:srgbClr val="FFFFFF"/>
                </a:solidFill>
                <a:latin typeface="Verdana"/>
                <a:cs typeface="Verdana"/>
              </a:rPr>
              <a:t>24h,</a:t>
            </a:r>
            <a:endParaRPr sz="2950">
              <a:latin typeface="Verdana"/>
              <a:cs typeface="Verdana"/>
            </a:endParaRPr>
          </a:p>
          <a:p>
            <a:pPr marL="12700" marR="212090">
              <a:lnSpc>
                <a:spcPct val="115700"/>
              </a:lnSpc>
            </a:pPr>
            <a:r>
              <a:rPr sz="2950" spc="-285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r>
              <a:rPr sz="2950" spc="-4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70">
                <a:solidFill>
                  <a:srgbClr val="FFFFFF"/>
                </a:solidFill>
                <a:latin typeface="Verdana"/>
                <a:cs typeface="Verdana"/>
              </a:rPr>
              <a:t>dias</a:t>
            </a:r>
            <a:r>
              <a:rPr sz="2950" spc="-4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85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2950" spc="-4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00">
                <a:solidFill>
                  <a:srgbClr val="FFFFFF"/>
                </a:solidFill>
                <a:latin typeface="Verdana"/>
                <a:cs typeface="Verdana"/>
              </a:rPr>
              <a:t>semana, </a:t>
            </a:r>
            <a:r>
              <a:rPr sz="2950" spc="-85">
                <a:solidFill>
                  <a:srgbClr val="FFFFFF"/>
                </a:solidFill>
                <a:latin typeface="Verdana"/>
                <a:cs typeface="Verdana"/>
              </a:rPr>
              <a:t>365</a:t>
            </a:r>
            <a:r>
              <a:rPr sz="2950" spc="-4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70">
                <a:solidFill>
                  <a:srgbClr val="FFFFFF"/>
                </a:solidFill>
                <a:latin typeface="Verdana"/>
                <a:cs typeface="Verdana"/>
              </a:rPr>
              <a:t>dias</a:t>
            </a:r>
            <a:r>
              <a:rPr sz="2950" spc="-4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85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2950" spc="-4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0">
                <a:solidFill>
                  <a:srgbClr val="FFFFFF"/>
                </a:solidFill>
                <a:latin typeface="Verdana"/>
                <a:cs typeface="Verdana"/>
              </a:rPr>
              <a:t>ano.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1659" y="8603687"/>
            <a:ext cx="2783205" cy="2106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700"/>
              </a:lnSpc>
              <a:spcBef>
                <a:spcPts val="95"/>
              </a:spcBef>
            </a:pPr>
            <a:r>
              <a:rPr sz="2950" spc="-95">
                <a:solidFill>
                  <a:srgbClr val="FFFFFF"/>
                </a:solidFill>
                <a:latin typeface="Verdana"/>
                <a:cs typeface="Verdana"/>
              </a:rPr>
              <a:t>Acesso</a:t>
            </a:r>
            <a:r>
              <a:rPr sz="2950" spc="-50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95">
                <a:solidFill>
                  <a:srgbClr val="FFFFFF"/>
                </a:solidFill>
                <a:latin typeface="Verdana"/>
                <a:cs typeface="Verdana"/>
              </a:rPr>
              <a:t>imediato</a:t>
            </a:r>
            <a:r>
              <a:rPr sz="295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1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950" spc="-48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45">
                <a:solidFill>
                  <a:srgbClr val="FFFFFF"/>
                </a:solidFill>
                <a:latin typeface="Verdana"/>
                <a:cs typeface="Verdana"/>
              </a:rPr>
              <a:t>especialistas</a:t>
            </a:r>
            <a:r>
              <a:rPr sz="2950" spc="-4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8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95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50">
                <a:solidFill>
                  <a:srgbClr val="FFFFFF"/>
                </a:solidFill>
                <a:latin typeface="Verdana"/>
                <a:cs typeface="Verdana"/>
              </a:rPr>
              <a:t>subespecialistas</a:t>
            </a:r>
            <a:r>
              <a:rPr sz="295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45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2950" spc="-4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0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sz="2950" spc="-4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04">
                <a:solidFill>
                  <a:srgbClr val="FFFFFF"/>
                </a:solidFill>
                <a:latin typeface="Verdana"/>
                <a:cs typeface="Verdana"/>
              </a:rPr>
              <a:t>Dasa.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37748" y="8603687"/>
            <a:ext cx="3079750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95"/>
              </a:spcBef>
            </a:pPr>
            <a:r>
              <a:rPr sz="2950" spc="-190">
                <a:solidFill>
                  <a:srgbClr val="FFFFFF"/>
                </a:solidFill>
                <a:latin typeface="Verdana"/>
                <a:cs typeface="Verdana"/>
              </a:rPr>
              <a:t>Suporte</a:t>
            </a:r>
            <a:r>
              <a:rPr sz="2950" spc="-4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70">
                <a:solidFill>
                  <a:srgbClr val="FFFFFF"/>
                </a:solidFill>
                <a:latin typeface="Verdana"/>
                <a:cs typeface="Verdana"/>
              </a:rPr>
              <a:t>completo </a:t>
            </a:r>
            <a:r>
              <a:rPr sz="2950" spc="-260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2950" spc="-4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15">
                <a:solidFill>
                  <a:srgbClr val="FFFFFF"/>
                </a:solidFill>
                <a:latin typeface="Verdana"/>
                <a:cs typeface="Verdana"/>
              </a:rPr>
              <a:t>Radiologia</a:t>
            </a:r>
            <a:r>
              <a:rPr sz="2950" spc="-4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50">
                <a:solidFill>
                  <a:srgbClr val="FFFFFF"/>
                </a:solidFill>
                <a:latin typeface="Verdana"/>
                <a:cs typeface="Verdana"/>
              </a:rPr>
              <a:t>e </a:t>
            </a:r>
            <a:r>
              <a:rPr sz="2950" spc="-114">
                <a:solidFill>
                  <a:srgbClr val="FFFFFF"/>
                </a:solidFill>
                <a:latin typeface="Verdana"/>
                <a:cs typeface="Verdana"/>
              </a:rPr>
              <a:t>Métodos</a:t>
            </a:r>
            <a:r>
              <a:rPr sz="2950" spc="-43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50">
                <a:solidFill>
                  <a:srgbClr val="FFFFFF"/>
                </a:solidFill>
                <a:latin typeface="Verdana"/>
                <a:cs typeface="Verdana"/>
              </a:rPr>
              <a:t>Gráficos.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38437" y="8603687"/>
            <a:ext cx="3604895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700"/>
              </a:lnSpc>
              <a:spcBef>
                <a:spcPts val="95"/>
              </a:spcBef>
            </a:pPr>
            <a:r>
              <a:rPr sz="2950" spc="-165">
                <a:solidFill>
                  <a:srgbClr val="FFFFFF"/>
                </a:solidFill>
                <a:latin typeface="Verdana"/>
                <a:cs typeface="Verdana"/>
              </a:rPr>
              <a:t>Comunicação</a:t>
            </a:r>
            <a:r>
              <a:rPr sz="2950" spc="-4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80">
                <a:solidFill>
                  <a:srgbClr val="FFFFFF"/>
                </a:solidFill>
                <a:latin typeface="Verdana"/>
                <a:cs typeface="Verdana"/>
              </a:rPr>
              <a:t>médica</a:t>
            </a:r>
            <a:r>
              <a:rPr sz="295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04">
                <a:solidFill>
                  <a:srgbClr val="FFFFFF"/>
                </a:solidFill>
                <a:latin typeface="Verdana"/>
                <a:cs typeface="Verdana"/>
              </a:rPr>
              <a:t>integrada</a:t>
            </a:r>
            <a:r>
              <a:rPr sz="2950" spc="-4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8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950" spc="-48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35">
                <a:solidFill>
                  <a:srgbClr val="FFFFFF"/>
                </a:solidFill>
                <a:latin typeface="Verdana"/>
                <a:cs typeface="Verdana"/>
              </a:rPr>
              <a:t>ágil</a:t>
            </a:r>
            <a:r>
              <a:rPr sz="2950" spc="-4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45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2950" spc="-4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3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95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75">
                <a:solidFill>
                  <a:srgbClr val="FFFFFF"/>
                </a:solidFill>
                <a:latin typeface="Verdana"/>
                <a:cs typeface="Verdana"/>
              </a:rPr>
              <a:t>seu</a:t>
            </a:r>
            <a:r>
              <a:rPr sz="2950" spc="-4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0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sz="2950" spc="-4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70">
                <a:solidFill>
                  <a:srgbClr val="FFFFFF"/>
                </a:solidFill>
                <a:latin typeface="Verdana"/>
                <a:cs typeface="Verdana"/>
              </a:rPr>
              <a:t>operacional.</a:t>
            </a:r>
            <a:endParaRPr sz="29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05614" y="871093"/>
            <a:ext cx="17626330" cy="696595"/>
            <a:chOff x="1305614" y="871093"/>
            <a:chExt cx="17626330" cy="696595"/>
          </a:xfrm>
        </p:grpSpPr>
        <p:sp>
          <p:nvSpPr>
            <p:cNvPr id="10" name="object 10"/>
            <p:cNvSpPr/>
            <p:nvPr/>
          </p:nvSpPr>
          <p:spPr>
            <a:xfrm>
              <a:off x="5088850" y="1556706"/>
              <a:ext cx="13843000" cy="0"/>
            </a:xfrm>
            <a:custGeom>
              <a:avLst/>
              <a:gdLst/>
              <a:ahLst/>
              <a:cxnLst/>
              <a:rect l="l" t="t" r="r" b="b"/>
              <a:pathLst>
                <a:path w="13843000">
                  <a:moveTo>
                    <a:pt x="0" y="0"/>
                  </a:moveTo>
                  <a:lnTo>
                    <a:pt x="13842510" y="0"/>
                  </a:lnTo>
                </a:path>
              </a:pathLst>
            </a:custGeom>
            <a:ln w="20941">
              <a:solidFill>
                <a:srgbClr val="0D12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Imagem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5614" y="871093"/>
              <a:ext cx="2305793" cy="58278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4976896" y="1081716"/>
            <a:ext cx="3718560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950" spc="-10">
                <a:solidFill>
                  <a:srgbClr val="FFFFFF"/>
                </a:solidFill>
                <a:latin typeface="Verdana"/>
                <a:cs typeface="Verdana"/>
              </a:rPr>
              <a:t>PROPOSTA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950" spc="2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|</a:t>
            </a:r>
            <a:r>
              <a:rPr sz="950" spc="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950" spc="2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6068" y="8539844"/>
            <a:ext cx="826135" cy="826135"/>
            <a:chOff x="486068" y="8539844"/>
            <a:chExt cx="826135" cy="826135"/>
          </a:xfrm>
        </p:grpSpPr>
        <p:sp>
          <p:nvSpPr>
            <p:cNvPr id="14" name="object 14"/>
            <p:cNvSpPr/>
            <p:nvPr/>
          </p:nvSpPr>
          <p:spPr>
            <a:xfrm>
              <a:off x="486068" y="8539844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5" h="826134">
                  <a:moveTo>
                    <a:pt x="413013" y="0"/>
                  </a:moveTo>
                  <a:lnTo>
                    <a:pt x="364846" y="2778"/>
                  </a:lnTo>
                  <a:lnTo>
                    <a:pt x="318311" y="10908"/>
                  </a:lnTo>
                  <a:lnTo>
                    <a:pt x="273718" y="24079"/>
                  </a:lnTo>
                  <a:lnTo>
                    <a:pt x="231377" y="41981"/>
                  </a:lnTo>
                  <a:lnTo>
                    <a:pt x="191598" y="64304"/>
                  </a:lnTo>
                  <a:lnTo>
                    <a:pt x="154691" y="90740"/>
                  </a:lnTo>
                  <a:lnTo>
                    <a:pt x="120966" y="120977"/>
                  </a:lnTo>
                  <a:lnTo>
                    <a:pt x="90732" y="154707"/>
                  </a:lnTo>
                  <a:lnTo>
                    <a:pt x="64299" y="191620"/>
                  </a:lnTo>
                  <a:lnTo>
                    <a:pt x="41977" y="231405"/>
                  </a:lnTo>
                  <a:lnTo>
                    <a:pt x="24077" y="273752"/>
                  </a:lnTo>
                  <a:lnTo>
                    <a:pt x="10907" y="318353"/>
                  </a:lnTo>
                  <a:lnTo>
                    <a:pt x="2778" y="364898"/>
                  </a:lnTo>
                  <a:lnTo>
                    <a:pt x="0" y="413076"/>
                  </a:lnTo>
                  <a:lnTo>
                    <a:pt x="2778" y="461233"/>
                  </a:lnTo>
                  <a:lnTo>
                    <a:pt x="10907" y="507760"/>
                  </a:lnTo>
                  <a:lnTo>
                    <a:pt x="24077" y="552345"/>
                  </a:lnTo>
                  <a:lnTo>
                    <a:pt x="41977" y="594681"/>
                  </a:lnTo>
                  <a:lnTo>
                    <a:pt x="64299" y="634455"/>
                  </a:lnTo>
                  <a:lnTo>
                    <a:pt x="90732" y="671359"/>
                  </a:lnTo>
                  <a:lnTo>
                    <a:pt x="120966" y="705083"/>
                  </a:lnTo>
                  <a:lnTo>
                    <a:pt x="154691" y="735315"/>
                  </a:lnTo>
                  <a:lnTo>
                    <a:pt x="191598" y="761747"/>
                  </a:lnTo>
                  <a:lnTo>
                    <a:pt x="231377" y="784069"/>
                  </a:lnTo>
                  <a:lnTo>
                    <a:pt x="273718" y="801970"/>
                  </a:lnTo>
                  <a:lnTo>
                    <a:pt x="318311" y="815140"/>
                  </a:lnTo>
                  <a:lnTo>
                    <a:pt x="364846" y="823269"/>
                  </a:lnTo>
                  <a:lnTo>
                    <a:pt x="413013" y="826048"/>
                  </a:lnTo>
                  <a:lnTo>
                    <a:pt x="461181" y="823269"/>
                  </a:lnTo>
                  <a:lnTo>
                    <a:pt x="507716" y="815140"/>
                  </a:lnTo>
                  <a:lnTo>
                    <a:pt x="552310" y="801970"/>
                  </a:lnTo>
                  <a:lnTo>
                    <a:pt x="594651" y="784069"/>
                  </a:lnTo>
                  <a:lnTo>
                    <a:pt x="634431" y="761747"/>
                  </a:lnTo>
                  <a:lnTo>
                    <a:pt x="671339" y="735315"/>
                  </a:lnTo>
                  <a:lnTo>
                    <a:pt x="705066" y="705083"/>
                  </a:lnTo>
                  <a:lnTo>
                    <a:pt x="735301" y="671359"/>
                  </a:lnTo>
                  <a:lnTo>
                    <a:pt x="761735" y="634455"/>
                  </a:lnTo>
                  <a:lnTo>
                    <a:pt x="784057" y="594681"/>
                  </a:lnTo>
                  <a:lnTo>
                    <a:pt x="801959" y="552345"/>
                  </a:lnTo>
                  <a:lnTo>
                    <a:pt x="815129" y="507760"/>
                  </a:lnTo>
                  <a:lnTo>
                    <a:pt x="823258" y="461233"/>
                  </a:lnTo>
                  <a:lnTo>
                    <a:pt x="826037" y="413076"/>
                  </a:lnTo>
                  <a:lnTo>
                    <a:pt x="823258" y="364898"/>
                  </a:lnTo>
                  <a:lnTo>
                    <a:pt x="815129" y="318353"/>
                  </a:lnTo>
                  <a:lnTo>
                    <a:pt x="801959" y="273752"/>
                  </a:lnTo>
                  <a:lnTo>
                    <a:pt x="784057" y="231405"/>
                  </a:lnTo>
                  <a:lnTo>
                    <a:pt x="761735" y="191620"/>
                  </a:lnTo>
                  <a:lnTo>
                    <a:pt x="735301" y="154707"/>
                  </a:lnTo>
                  <a:lnTo>
                    <a:pt x="705066" y="120977"/>
                  </a:lnTo>
                  <a:lnTo>
                    <a:pt x="671339" y="90740"/>
                  </a:lnTo>
                  <a:lnTo>
                    <a:pt x="634431" y="64304"/>
                  </a:lnTo>
                  <a:lnTo>
                    <a:pt x="594651" y="41981"/>
                  </a:lnTo>
                  <a:lnTo>
                    <a:pt x="552310" y="24079"/>
                  </a:lnTo>
                  <a:lnTo>
                    <a:pt x="507716" y="10908"/>
                  </a:lnTo>
                  <a:lnTo>
                    <a:pt x="461181" y="2778"/>
                  </a:lnTo>
                  <a:lnTo>
                    <a:pt x="413013" y="0"/>
                  </a:lnTo>
                  <a:close/>
                </a:path>
              </a:pathLst>
            </a:custGeom>
            <a:solidFill>
              <a:srgbClr val="0D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 descr="Imagem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2805" y="8766832"/>
              <a:ext cx="372554" cy="372051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10002522" y="8539844"/>
            <a:ext cx="826135" cy="826135"/>
            <a:chOff x="10002522" y="8539844"/>
            <a:chExt cx="826135" cy="826135"/>
          </a:xfrm>
        </p:grpSpPr>
        <p:sp>
          <p:nvSpPr>
            <p:cNvPr id="17" name="object 17"/>
            <p:cNvSpPr/>
            <p:nvPr/>
          </p:nvSpPr>
          <p:spPr>
            <a:xfrm>
              <a:off x="10002522" y="8539844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4" h="826134">
                  <a:moveTo>
                    <a:pt x="413076" y="0"/>
                  </a:moveTo>
                  <a:lnTo>
                    <a:pt x="364898" y="2778"/>
                  </a:lnTo>
                  <a:lnTo>
                    <a:pt x="318353" y="10908"/>
                  </a:lnTo>
                  <a:lnTo>
                    <a:pt x="273752" y="24079"/>
                  </a:lnTo>
                  <a:lnTo>
                    <a:pt x="231405" y="41981"/>
                  </a:lnTo>
                  <a:lnTo>
                    <a:pt x="191620" y="64304"/>
                  </a:lnTo>
                  <a:lnTo>
                    <a:pt x="154707" y="90740"/>
                  </a:lnTo>
                  <a:lnTo>
                    <a:pt x="120977" y="120977"/>
                  </a:lnTo>
                  <a:lnTo>
                    <a:pt x="90740" y="154707"/>
                  </a:lnTo>
                  <a:lnTo>
                    <a:pt x="64304" y="191620"/>
                  </a:lnTo>
                  <a:lnTo>
                    <a:pt x="41981" y="231405"/>
                  </a:lnTo>
                  <a:lnTo>
                    <a:pt x="24079" y="273752"/>
                  </a:lnTo>
                  <a:lnTo>
                    <a:pt x="10908" y="318353"/>
                  </a:lnTo>
                  <a:lnTo>
                    <a:pt x="2778" y="364898"/>
                  </a:lnTo>
                  <a:lnTo>
                    <a:pt x="0" y="413076"/>
                  </a:lnTo>
                  <a:lnTo>
                    <a:pt x="2778" y="461233"/>
                  </a:lnTo>
                  <a:lnTo>
                    <a:pt x="10908" y="507760"/>
                  </a:lnTo>
                  <a:lnTo>
                    <a:pt x="24079" y="552345"/>
                  </a:lnTo>
                  <a:lnTo>
                    <a:pt x="41981" y="594681"/>
                  </a:lnTo>
                  <a:lnTo>
                    <a:pt x="64304" y="634455"/>
                  </a:lnTo>
                  <a:lnTo>
                    <a:pt x="90740" y="671359"/>
                  </a:lnTo>
                  <a:lnTo>
                    <a:pt x="120977" y="705083"/>
                  </a:lnTo>
                  <a:lnTo>
                    <a:pt x="154707" y="735315"/>
                  </a:lnTo>
                  <a:lnTo>
                    <a:pt x="191620" y="761747"/>
                  </a:lnTo>
                  <a:lnTo>
                    <a:pt x="231405" y="784069"/>
                  </a:lnTo>
                  <a:lnTo>
                    <a:pt x="273752" y="801970"/>
                  </a:lnTo>
                  <a:lnTo>
                    <a:pt x="318353" y="815140"/>
                  </a:lnTo>
                  <a:lnTo>
                    <a:pt x="364898" y="823269"/>
                  </a:lnTo>
                  <a:lnTo>
                    <a:pt x="413076" y="826048"/>
                  </a:lnTo>
                  <a:lnTo>
                    <a:pt x="461233" y="823269"/>
                  </a:lnTo>
                  <a:lnTo>
                    <a:pt x="507760" y="815140"/>
                  </a:lnTo>
                  <a:lnTo>
                    <a:pt x="552345" y="801970"/>
                  </a:lnTo>
                  <a:lnTo>
                    <a:pt x="594681" y="784069"/>
                  </a:lnTo>
                  <a:lnTo>
                    <a:pt x="634455" y="761747"/>
                  </a:lnTo>
                  <a:lnTo>
                    <a:pt x="671359" y="735315"/>
                  </a:lnTo>
                  <a:lnTo>
                    <a:pt x="705083" y="705083"/>
                  </a:lnTo>
                  <a:lnTo>
                    <a:pt x="735315" y="671359"/>
                  </a:lnTo>
                  <a:lnTo>
                    <a:pt x="761747" y="634455"/>
                  </a:lnTo>
                  <a:lnTo>
                    <a:pt x="784069" y="594681"/>
                  </a:lnTo>
                  <a:lnTo>
                    <a:pt x="801970" y="552345"/>
                  </a:lnTo>
                  <a:lnTo>
                    <a:pt x="815140" y="507760"/>
                  </a:lnTo>
                  <a:lnTo>
                    <a:pt x="823269" y="461233"/>
                  </a:lnTo>
                  <a:lnTo>
                    <a:pt x="826048" y="413076"/>
                  </a:lnTo>
                  <a:lnTo>
                    <a:pt x="823269" y="364898"/>
                  </a:lnTo>
                  <a:lnTo>
                    <a:pt x="815140" y="318353"/>
                  </a:lnTo>
                  <a:lnTo>
                    <a:pt x="801970" y="273752"/>
                  </a:lnTo>
                  <a:lnTo>
                    <a:pt x="784069" y="231405"/>
                  </a:lnTo>
                  <a:lnTo>
                    <a:pt x="761747" y="191620"/>
                  </a:lnTo>
                  <a:lnTo>
                    <a:pt x="735315" y="154707"/>
                  </a:lnTo>
                  <a:lnTo>
                    <a:pt x="705083" y="120977"/>
                  </a:lnTo>
                  <a:lnTo>
                    <a:pt x="671359" y="90740"/>
                  </a:lnTo>
                  <a:lnTo>
                    <a:pt x="634455" y="64304"/>
                  </a:lnTo>
                  <a:lnTo>
                    <a:pt x="594681" y="41981"/>
                  </a:lnTo>
                  <a:lnTo>
                    <a:pt x="552345" y="24079"/>
                  </a:lnTo>
                  <a:lnTo>
                    <a:pt x="507760" y="10908"/>
                  </a:lnTo>
                  <a:lnTo>
                    <a:pt x="461233" y="2778"/>
                  </a:lnTo>
                  <a:lnTo>
                    <a:pt x="413076" y="0"/>
                  </a:lnTo>
                  <a:close/>
                </a:path>
              </a:pathLst>
            </a:custGeom>
            <a:solidFill>
              <a:srgbClr val="0D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Imagem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87333" y="8762727"/>
              <a:ext cx="456415" cy="380344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417531" y="8539844"/>
            <a:ext cx="826135" cy="826135"/>
            <a:chOff x="5417531" y="8539844"/>
            <a:chExt cx="826135" cy="826135"/>
          </a:xfrm>
        </p:grpSpPr>
        <p:sp>
          <p:nvSpPr>
            <p:cNvPr id="20" name="object 20"/>
            <p:cNvSpPr/>
            <p:nvPr/>
          </p:nvSpPr>
          <p:spPr>
            <a:xfrm>
              <a:off x="5417531" y="8539844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5" h="826134">
                  <a:moveTo>
                    <a:pt x="412971" y="0"/>
                  </a:moveTo>
                  <a:lnTo>
                    <a:pt x="364814" y="2778"/>
                  </a:lnTo>
                  <a:lnTo>
                    <a:pt x="318288" y="10908"/>
                  </a:lnTo>
                  <a:lnTo>
                    <a:pt x="273702" y="24079"/>
                  </a:lnTo>
                  <a:lnTo>
                    <a:pt x="231366" y="41981"/>
                  </a:lnTo>
                  <a:lnTo>
                    <a:pt x="191592" y="64304"/>
                  </a:lnTo>
                  <a:lnTo>
                    <a:pt x="154688" y="90740"/>
                  </a:lnTo>
                  <a:lnTo>
                    <a:pt x="120964" y="120977"/>
                  </a:lnTo>
                  <a:lnTo>
                    <a:pt x="90732" y="154707"/>
                  </a:lnTo>
                  <a:lnTo>
                    <a:pt x="64300" y="191620"/>
                  </a:lnTo>
                  <a:lnTo>
                    <a:pt x="41978" y="231405"/>
                  </a:lnTo>
                  <a:lnTo>
                    <a:pt x="24078" y="273752"/>
                  </a:lnTo>
                  <a:lnTo>
                    <a:pt x="10908" y="318353"/>
                  </a:lnTo>
                  <a:lnTo>
                    <a:pt x="2778" y="364898"/>
                  </a:lnTo>
                  <a:lnTo>
                    <a:pt x="0" y="413076"/>
                  </a:lnTo>
                  <a:lnTo>
                    <a:pt x="2778" y="461233"/>
                  </a:lnTo>
                  <a:lnTo>
                    <a:pt x="10908" y="507760"/>
                  </a:lnTo>
                  <a:lnTo>
                    <a:pt x="24078" y="552345"/>
                  </a:lnTo>
                  <a:lnTo>
                    <a:pt x="41978" y="594681"/>
                  </a:lnTo>
                  <a:lnTo>
                    <a:pt x="64300" y="634455"/>
                  </a:lnTo>
                  <a:lnTo>
                    <a:pt x="90732" y="671359"/>
                  </a:lnTo>
                  <a:lnTo>
                    <a:pt x="120964" y="705083"/>
                  </a:lnTo>
                  <a:lnTo>
                    <a:pt x="154688" y="735315"/>
                  </a:lnTo>
                  <a:lnTo>
                    <a:pt x="191592" y="761747"/>
                  </a:lnTo>
                  <a:lnTo>
                    <a:pt x="231366" y="784069"/>
                  </a:lnTo>
                  <a:lnTo>
                    <a:pt x="273702" y="801970"/>
                  </a:lnTo>
                  <a:lnTo>
                    <a:pt x="318288" y="815140"/>
                  </a:lnTo>
                  <a:lnTo>
                    <a:pt x="364814" y="823269"/>
                  </a:lnTo>
                  <a:lnTo>
                    <a:pt x="412971" y="826048"/>
                  </a:lnTo>
                  <a:lnTo>
                    <a:pt x="461128" y="823269"/>
                  </a:lnTo>
                  <a:lnTo>
                    <a:pt x="507655" y="815140"/>
                  </a:lnTo>
                  <a:lnTo>
                    <a:pt x="552241" y="801970"/>
                  </a:lnTo>
                  <a:lnTo>
                    <a:pt x="594576" y="784069"/>
                  </a:lnTo>
                  <a:lnTo>
                    <a:pt x="634351" y="761747"/>
                  </a:lnTo>
                  <a:lnTo>
                    <a:pt x="671255" y="735315"/>
                  </a:lnTo>
                  <a:lnTo>
                    <a:pt x="704978" y="705083"/>
                  </a:lnTo>
                  <a:lnTo>
                    <a:pt x="735211" y="671359"/>
                  </a:lnTo>
                  <a:lnTo>
                    <a:pt x="761643" y="634455"/>
                  </a:lnTo>
                  <a:lnTo>
                    <a:pt x="783964" y="594681"/>
                  </a:lnTo>
                  <a:lnTo>
                    <a:pt x="801865" y="552345"/>
                  </a:lnTo>
                  <a:lnTo>
                    <a:pt x="815035" y="507760"/>
                  </a:lnTo>
                  <a:lnTo>
                    <a:pt x="823164" y="461233"/>
                  </a:lnTo>
                  <a:lnTo>
                    <a:pt x="825943" y="413076"/>
                  </a:lnTo>
                  <a:lnTo>
                    <a:pt x="823164" y="364898"/>
                  </a:lnTo>
                  <a:lnTo>
                    <a:pt x="815035" y="318353"/>
                  </a:lnTo>
                  <a:lnTo>
                    <a:pt x="801865" y="273752"/>
                  </a:lnTo>
                  <a:lnTo>
                    <a:pt x="783964" y="231405"/>
                  </a:lnTo>
                  <a:lnTo>
                    <a:pt x="761643" y="191620"/>
                  </a:lnTo>
                  <a:lnTo>
                    <a:pt x="735211" y="154707"/>
                  </a:lnTo>
                  <a:lnTo>
                    <a:pt x="704978" y="120977"/>
                  </a:lnTo>
                  <a:lnTo>
                    <a:pt x="671255" y="90740"/>
                  </a:lnTo>
                  <a:lnTo>
                    <a:pt x="634351" y="64304"/>
                  </a:lnTo>
                  <a:lnTo>
                    <a:pt x="594576" y="41981"/>
                  </a:lnTo>
                  <a:lnTo>
                    <a:pt x="552241" y="24079"/>
                  </a:lnTo>
                  <a:lnTo>
                    <a:pt x="507655" y="10908"/>
                  </a:lnTo>
                  <a:lnTo>
                    <a:pt x="461128" y="2778"/>
                  </a:lnTo>
                  <a:lnTo>
                    <a:pt x="412971" y="0"/>
                  </a:lnTo>
                  <a:close/>
                </a:path>
              </a:pathLst>
            </a:custGeom>
            <a:solidFill>
              <a:srgbClr val="0D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 descr="Imagem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7418" y="8762696"/>
              <a:ext cx="365706" cy="359015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4871799" y="8539844"/>
            <a:ext cx="826135" cy="826135"/>
            <a:chOff x="14871799" y="8539844"/>
            <a:chExt cx="826135" cy="826135"/>
          </a:xfrm>
        </p:grpSpPr>
        <p:sp>
          <p:nvSpPr>
            <p:cNvPr id="23" name="object 23"/>
            <p:cNvSpPr/>
            <p:nvPr/>
          </p:nvSpPr>
          <p:spPr>
            <a:xfrm>
              <a:off x="14871799" y="8539844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4" h="826134">
                  <a:moveTo>
                    <a:pt x="412971" y="0"/>
                  </a:moveTo>
                  <a:lnTo>
                    <a:pt x="364814" y="2778"/>
                  </a:lnTo>
                  <a:lnTo>
                    <a:pt x="318288" y="10908"/>
                  </a:lnTo>
                  <a:lnTo>
                    <a:pt x="273702" y="24079"/>
                  </a:lnTo>
                  <a:lnTo>
                    <a:pt x="231366" y="41981"/>
                  </a:lnTo>
                  <a:lnTo>
                    <a:pt x="191592" y="64304"/>
                  </a:lnTo>
                  <a:lnTo>
                    <a:pt x="154688" y="90740"/>
                  </a:lnTo>
                  <a:lnTo>
                    <a:pt x="120964" y="120977"/>
                  </a:lnTo>
                  <a:lnTo>
                    <a:pt x="90732" y="154707"/>
                  </a:lnTo>
                  <a:lnTo>
                    <a:pt x="64300" y="191620"/>
                  </a:lnTo>
                  <a:lnTo>
                    <a:pt x="41978" y="231405"/>
                  </a:lnTo>
                  <a:lnTo>
                    <a:pt x="24078" y="273752"/>
                  </a:lnTo>
                  <a:lnTo>
                    <a:pt x="10908" y="318353"/>
                  </a:lnTo>
                  <a:lnTo>
                    <a:pt x="2778" y="364898"/>
                  </a:lnTo>
                  <a:lnTo>
                    <a:pt x="0" y="413076"/>
                  </a:lnTo>
                  <a:lnTo>
                    <a:pt x="2778" y="461233"/>
                  </a:lnTo>
                  <a:lnTo>
                    <a:pt x="10908" y="507760"/>
                  </a:lnTo>
                  <a:lnTo>
                    <a:pt x="24078" y="552345"/>
                  </a:lnTo>
                  <a:lnTo>
                    <a:pt x="41978" y="594681"/>
                  </a:lnTo>
                  <a:lnTo>
                    <a:pt x="64300" y="634455"/>
                  </a:lnTo>
                  <a:lnTo>
                    <a:pt x="90732" y="671359"/>
                  </a:lnTo>
                  <a:lnTo>
                    <a:pt x="120964" y="705083"/>
                  </a:lnTo>
                  <a:lnTo>
                    <a:pt x="154688" y="735315"/>
                  </a:lnTo>
                  <a:lnTo>
                    <a:pt x="191592" y="761747"/>
                  </a:lnTo>
                  <a:lnTo>
                    <a:pt x="231366" y="784069"/>
                  </a:lnTo>
                  <a:lnTo>
                    <a:pt x="273702" y="801970"/>
                  </a:lnTo>
                  <a:lnTo>
                    <a:pt x="318288" y="815140"/>
                  </a:lnTo>
                  <a:lnTo>
                    <a:pt x="364814" y="823269"/>
                  </a:lnTo>
                  <a:lnTo>
                    <a:pt x="412971" y="826048"/>
                  </a:lnTo>
                  <a:lnTo>
                    <a:pt x="461149" y="823269"/>
                  </a:lnTo>
                  <a:lnTo>
                    <a:pt x="507694" y="815140"/>
                  </a:lnTo>
                  <a:lnTo>
                    <a:pt x="552295" y="801970"/>
                  </a:lnTo>
                  <a:lnTo>
                    <a:pt x="594643" y="784069"/>
                  </a:lnTo>
                  <a:lnTo>
                    <a:pt x="634428" y="761747"/>
                  </a:lnTo>
                  <a:lnTo>
                    <a:pt x="671340" y="735315"/>
                  </a:lnTo>
                  <a:lnTo>
                    <a:pt x="705070" y="705083"/>
                  </a:lnTo>
                  <a:lnTo>
                    <a:pt x="735307" y="671359"/>
                  </a:lnTo>
                  <a:lnTo>
                    <a:pt x="761743" y="634455"/>
                  </a:lnTo>
                  <a:lnTo>
                    <a:pt x="784066" y="594681"/>
                  </a:lnTo>
                  <a:lnTo>
                    <a:pt x="801969" y="552345"/>
                  </a:lnTo>
                  <a:lnTo>
                    <a:pt x="815139" y="507760"/>
                  </a:lnTo>
                  <a:lnTo>
                    <a:pt x="823269" y="461233"/>
                  </a:lnTo>
                  <a:lnTo>
                    <a:pt x="826048" y="413076"/>
                  </a:lnTo>
                  <a:lnTo>
                    <a:pt x="823269" y="364898"/>
                  </a:lnTo>
                  <a:lnTo>
                    <a:pt x="815139" y="318353"/>
                  </a:lnTo>
                  <a:lnTo>
                    <a:pt x="801969" y="273752"/>
                  </a:lnTo>
                  <a:lnTo>
                    <a:pt x="784066" y="231405"/>
                  </a:lnTo>
                  <a:lnTo>
                    <a:pt x="761743" y="191620"/>
                  </a:lnTo>
                  <a:lnTo>
                    <a:pt x="735307" y="154707"/>
                  </a:lnTo>
                  <a:lnTo>
                    <a:pt x="705070" y="120977"/>
                  </a:lnTo>
                  <a:lnTo>
                    <a:pt x="671340" y="90740"/>
                  </a:lnTo>
                  <a:lnTo>
                    <a:pt x="634428" y="64304"/>
                  </a:lnTo>
                  <a:lnTo>
                    <a:pt x="594643" y="41981"/>
                  </a:lnTo>
                  <a:lnTo>
                    <a:pt x="552295" y="24079"/>
                  </a:lnTo>
                  <a:lnTo>
                    <a:pt x="507694" y="10908"/>
                  </a:lnTo>
                  <a:lnTo>
                    <a:pt x="461149" y="2778"/>
                  </a:lnTo>
                  <a:lnTo>
                    <a:pt x="412971" y="0"/>
                  </a:lnTo>
                  <a:close/>
                </a:path>
              </a:pathLst>
            </a:custGeom>
            <a:solidFill>
              <a:srgbClr val="0D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 descr="Imagem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23938" y="8769722"/>
              <a:ext cx="321717" cy="3663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00547"/>
            <a:ext cx="20104100" cy="5208270"/>
          </a:xfrm>
          <a:custGeom>
            <a:avLst/>
            <a:gdLst/>
            <a:ahLst/>
            <a:cxnLst/>
            <a:rect l="l" t="t" r="r" b="b"/>
            <a:pathLst>
              <a:path w="20104100" h="5208270">
                <a:moveTo>
                  <a:pt x="19276481" y="0"/>
                </a:moveTo>
                <a:lnTo>
                  <a:pt x="827576" y="0"/>
                </a:lnTo>
                <a:lnTo>
                  <a:pt x="778950" y="1405"/>
                </a:lnTo>
                <a:lnTo>
                  <a:pt x="731064" y="5568"/>
                </a:lnTo>
                <a:lnTo>
                  <a:pt x="683995" y="12412"/>
                </a:lnTo>
                <a:lnTo>
                  <a:pt x="637822" y="21859"/>
                </a:lnTo>
                <a:lnTo>
                  <a:pt x="592621" y="33831"/>
                </a:lnTo>
                <a:lnTo>
                  <a:pt x="548470" y="48251"/>
                </a:lnTo>
                <a:lnTo>
                  <a:pt x="505448" y="65042"/>
                </a:lnTo>
                <a:lnTo>
                  <a:pt x="463631" y="84124"/>
                </a:lnTo>
                <a:lnTo>
                  <a:pt x="423097" y="105422"/>
                </a:lnTo>
                <a:lnTo>
                  <a:pt x="383924" y="128856"/>
                </a:lnTo>
                <a:lnTo>
                  <a:pt x="346189" y="154351"/>
                </a:lnTo>
                <a:lnTo>
                  <a:pt x="309971" y="181827"/>
                </a:lnTo>
                <a:lnTo>
                  <a:pt x="275346" y="211207"/>
                </a:lnTo>
                <a:lnTo>
                  <a:pt x="242393" y="242414"/>
                </a:lnTo>
                <a:lnTo>
                  <a:pt x="211188" y="275369"/>
                </a:lnTo>
                <a:lnTo>
                  <a:pt x="181810" y="309996"/>
                </a:lnTo>
                <a:lnTo>
                  <a:pt x="154336" y="346217"/>
                </a:lnTo>
                <a:lnTo>
                  <a:pt x="128844" y="383954"/>
                </a:lnTo>
                <a:lnTo>
                  <a:pt x="105412" y="423129"/>
                </a:lnTo>
                <a:lnTo>
                  <a:pt x="84116" y="463664"/>
                </a:lnTo>
                <a:lnTo>
                  <a:pt x="65035" y="505483"/>
                </a:lnTo>
                <a:lnTo>
                  <a:pt x="48247" y="548507"/>
                </a:lnTo>
                <a:lnTo>
                  <a:pt x="33828" y="592659"/>
                </a:lnTo>
                <a:lnTo>
                  <a:pt x="21857" y="637861"/>
                </a:lnTo>
                <a:lnTo>
                  <a:pt x="12411" y="684036"/>
                </a:lnTo>
                <a:lnTo>
                  <a:pt x="5567" y="731105"/>
                </a:lnTo>
                <a:lnTo>
                  <a:pt x="1404" y="778992"/>
                </a:lnTo>
                <a:lnTo>
                  <a:pt x="0" y="827618"/>
                </a:lnTo>
                <a:lnTo>
                  <a:pt x="0" y="5208008"/>
                </a:lnTo>
                <a:lnTo>
                  <a:pt x="20104099" y="5208008"/>
                </a:lnTo>
                <a:lnTo>
                  <a:pt x="20104100" y="827618"/>
                </a:lnTo>
                <a:lnTo>
                  <a:pt x="20102694" y="778992"/>
                </a:lnTo>
                <a:lnTo>
                  <a:pt x="20098531" y="731105"/>
                </a:lnTo>
                <a:lnTo>
                  <a:pt x="20091687" y="684036"/>
                </a:lnTo>
                <a:lnTo>
                  <a:pt x="20082240" y="637861"/>
                </a:lnTo>
                <a:lnTo>
                  <a:pt x="20070268" y="592659"/>
                </a:lnTo>
                <a:lnTo>
                  <a:pt x="20055847" y="548507"/>
                </a:lnTo>
                <a:lnTo>
                  <a:pt x="20039057" y="505483"/>
                </a:lnTo>
                <a:lnTo>
                  <a:pt x="20019975" y="463664"/>
                </a:lnTo>
                <a:lnTo>
                  <a:pt x="19998677" y="423129"/>
                </a:lnTo>
                <a:lnTo>
                  <a:pt x="19975242" y="383954"/>
                </a:lnTo>
                <a:lnTo>
                  <a:pt x="19949748" y="346217"/>
                </a:lnTo>
                <a:lnTo>
                  <a:pt x="19922272" y="309996"/>
                </a:lnTo>
                <a:lnTo>
                  <a:pt x="19892892" y="275369"/>
                </a:lnTo>
                <a:lnTo>
                  <a:pt x="19861685" y="242414"/>
                </a:lnTo>
                <a:lnTo>
                  <a:pt x="19828730" y="211207"/>
                </a:lnTo>
                <a:lnTo>
                  <a:pt x="19794103" y="181827"/>
                </a:lnTo>
                <a:lnTo>
                  <a:pt x="19757882" y="154351"/>
                </a:lnTo>
                <a:lnTo>
                  <a:pt x="19720145" y="128856"/>
                </a:lnTo>
                <a:lnTo>
                  <a:pt x="19680970" y="105422"/>
                </a:lnTo>
                <a:lnTo>
                  <a:pt x="19640435" y="84124"/>
                </a:lnTo>
                <a:lnTo>
                  <a:pt x="19598616" y="65042"/>
                </a:lnTo>
                <a:lnTo>
                  <a:pt x="19555592" y="48251"/>
                </a:lnTo>
                <a:lnTo>
                  <a:pt x="19511440" y="33831"/>
                </a:lnTo>
                <a:lnTo>
                  <a:pt x="19466237" y="21859"/>
                </a:lnTo>
                <a:lnTo>
                  <a:pt x="19420063" y="12412"/>
                </a:lnTo>
                <a:lnTo>
                  <a:pt x="19372993" y="5568"/>
                </a:lnTo>
                <a:lnTo>
                  <a:pt x="19325107" y="1405"/>
                </a:lnTo>
                <a:lnTo>
                  <a:pt x="19276481" y="0"/>
                </a:lnTo>
                <a:close/>
              </a:path>
            </a:pathLst>
          </a:custGeom>
          <a:solidFill>
            <a:srgbClr val="2B2B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88850" y="1556706"/>
            <a:ext cx="13843000" cy="0"/>
          </a:xfrm>
          <a:custGeom>
            <a:avLst/>
            <a:gdLst/>
            <a:ahLst/>
            <a:cxnLst/>
            <a:rect l="l" t="t" r="r" b="b"/>
            <a:pathLst>
              <a:path w="13843000">
                <a:moveTo>
                  <a:pt x="0" y="0"/>
                </a:moveTo>
                <a:lnTo>
                  <a:pt x="13842510" y="0"/>
                </a:lnTo>
              </a:path>
            </a:pathLst>
          </a:custGeom>
          <a:ln w="20941">
            <a:solidFill>
              <a:srgbClr val="0D12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76896" y="1081716"/>
            <a:ext cx="3718560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950" spc="-10">
                <a:solidFill>
                  <a:srgbClr val="2B2B74"/>
                </a:solidFill>
                <a:latin typeface="Verdana"/>
                <a:cs typeface="Verdana"/>
              </a:rPr>
              <a:t>PROPOSTA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|</a:t>
            </a:r>
            <a:r>
              <a:rPr sz="950" spc="2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X</a:t>
            </a:r>
            <a:r>
              <a:rPr sz="950" spc="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2B2B74"/>
                </a:solidFill>
                <a:latin typeface="Verdana"/>
                <a:cs typeface="Verdana"/>
              </a:rPr>
              <a:t>B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2B2B74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5" name="object 5" descr="Image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661" y="871324"/>
            <a:ext cx="2303594" cy="582244"/>
          </a:xfrm>
          <a:prstGeom prst="rect">
            <a:avLst/>
          </a:prstGeom>
        </p:spPr>
      </p:pic>
      <p:pic>
        <p:nvPicPr>
          <p:cNvPr id="6" name="object 6" descr="Imagem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689" y="2924623"/>
            <a:ext cx="1632829" cy="1818583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468899" y="1946925"/>
            <a:ext cx="14090015" cy="3794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pc="-484"/>
              <a:t>Transformando</a:t>
            </a:r>
            <a:r>
              <a:rPr spc="-1295"/>
              <a:t> </a:t>
            </a:r>
            <a:r>
              <a:rPr spc="-385"/>
              <a:t>tecnologia</a:t>
            </a:r>
            <a:r>
              <a:rPr spc="-1250"/>
              <a:t> </a:t>
            </a:r>
            <a:r>
              <a:rPr spc="-685"/>
              <a:t>em </a:t>
            </a:r>
            <a:r>
              <a:rPr b="1" spc="-95">
                <a:latin typeface="Tahoma"/>
                <a:cs typeface="Tahoma"/>
              </a:rPr>
              <a:t>resultados</a:t>
            </a:r>
            <a:r>
              <a:rPr b="1" spc="-855">
                <a:latin typeface="Tahoma"/>
                <a:cs typeface="Tahoma"/>
              </a:rPr>
              <a:t> </a:t>
            </a:r>
            <a:r>
              <a:rPr b="1" spc="-85">
                <a:latin typeface="Tahoma"/>
                <a:cs typeface="Tahoma"/>
              </a:rPr>
              <a:t>clínicos</a:t>
            </a:r>
            <a:r>
              <a:rPr b="1" spc="-810">
                <a:latin typeface="Tahoma"/>
                <a:cs typeface="Tahoma"/>
              </a:rPr>
              <a:t> </a:t>
            </a:r>
            <a:r>
              <a:rPr b="1" spc="-50">
                <a:latin typeface="Tahoma"/>
                <a:cs typeface="Tahoma"/>
              </a:rPr>
              <a:t>e </a:t>
            </a:r>
            <a:r>
              <a:rPr b="1" spc="-35">
                <a:latin typeface="Tahoma"/>
                <a:cs typeface="Tahoma"/>
              </a:rPr>
              <a:t>operacionais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4542" y="7199959"/>
            <a:ext cx="3849370" cy="262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43000">
              <a:lnSpc>
                <a:spcPct val="115799"/>
              </a:lnSpc>
              <a:spcBef>
                <a:spcPts val="95"/>
              </a:spcBef>
            </a:pPr>
            <a:r>
              <a:rPr sz="2950" b="1" spc="-80">
                <a:solidFill>
                  <a:srgbClr val="FFFFFF"/>
                </a:solidFill>
                <a:latin typeface="Tahoma"/>
                <a:cs typeface="Tahoma"/>
              </a:rPr>
              <a:t>Laudos</a:t>
            </a:r>
            <a:r>
              <a:rPr sz="2950" b="1" spc="-2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50" b="1" spc="-4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950" b="1" spc="-2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50" b="1" spc="50">
                <a:solidFill>
                  <a:srgbClr val="FFFFFF"/>
                </a:solidFill>
                <a:latin typeface="Tahoma"/>
                <a:cs typeface="Tahoma"/>
              </a:rPr>
              <a:t>AVC </a:t>
            </a:r>
            <a:r>
              <a:rPr sz="2950" b="1" spc="-75">
                <a:solidFill>
                  <a:srgbClr val="FFFFFF"/>
                </a:solidFill>
                <a:latin typeface="Tahoma"/>
                <a:cs typeface="Tahoma"/>
              </a:rPr>
              <a:t>em</a:t>
            </a:r>
            <a:r>
              <a:rPr sz="2950" b="1" spc="-3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50" b="1">
                <a:solidFill>
                  <a:srgbClr val="FFFFFF"/>
                </a:solidFill>
                <a:latin typeface="Tahoma"/>
                <a:cs typeface="Tahoma"/>
              </a:rPr>
              <a:t>até</a:t>
            </a:r>
            <a:r>
              <a:rPr sz="2950" b="1" spc="-3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50" b="1" spc="-25">
                <a:solidFill>
                  <a:srgbClr val="FFFFFF"/>
                </a:solidFill>
                <a:latin typeface="Tahoma"/>
                <a:cs typeface="Tahoma"/>
              </a:rPr>
              <a:t>1h.</a:t>
            </a:r>
            <a:endParaRPr sz="295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</a:pPr>
            <a:r>
              <a:rPr sz="2950" spc="-185">
                <a:solidFill>
                  <a:srgbClr val="FFFFFF"/>
                </a:solidFill>
                <a:latin typeface="Verdana"/>
                <a:cs typeface="Verdana"/>
              </a:rPr>
              <a:t>Benefício:</a:t>
            </a:r>
            <a:r>
              <a:rPr sz="2950" spc="-4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0">
                <a:solidFill>
                  <a:srgbClr val="FFFFFF"/>
                </a:solidFill>
                <a:latin typeface="Verdana"/>
                <a:cs typeface="Verdana"/>
              </a:rPr>
              <a:t>Redução </a:t>
            </a:r>
            <a:r>
              <a:rPr sz="2950" spc="-155">
                <a:solidFill>
                  <a:srgbClr val="FFFFFF"/>
                </a:solidFill>
                <a:latin typeface="Verdana"/>
                <a:cs typeface="Verdana"/>
              </a:rPr>
              <a:t>drástica</a:t>
            </a:r>
            <a:r>
              <a:rPr sz="2950" spc="-4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7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950" spc="-4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40">
                <a:solidFill>
                  <a:srgbClr val="FFFFFF"/>
                </a:solidFill>
                <a:latin typeface="Verdana"/>
                <a:cs typeface="Verdana"/>
              </a:rPr>
              <a:t>risco</a:t>
            </a:r>
            <a:r>
              <a:rPr sz="2950" spc="-4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25">
                <a:solidFill>
                  <a:srgbClr val="FFFFFF"/>
                </a:solidFill>
                <a:latin typeface="Verdana"/>
                <a:cs typeface="Verdana"/>
              </a:rPr>
              <a:t>clínico </a:t>
            </a:r>
            <a:r>
              <a:rPr sz="2950" spc="-18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950" spc="-4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25">
                <a:solidFill>
                  <a:srgbClr val="FFFFFF"/>
                </a:solidFill>
                <a:latin typeface="Verdana"/>
                <a:cs typeface="Verdana"/>
              </a:rPr>
              <a:t>decisões</a:t>
            </a:r>
            <a:r>
              <a:rPr sz="2950" spc="-4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60">
                <a:solidFill>
                  <a:srgbClr val="FFFFFF"/>
                </a:solidFill>
                <a:latin typeface="Verdana"/>
                <a:cs typeface="Verdana"/>
              </a:rPr>
              <a:t>rápidas.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9688" y="7199959"/>
            <a:ext cx="3517900" cy="3147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01955">
              <a:lnSpc>
                <a:spcPct val="115799"/>
              </a:lnSpc>
              <a:spcBef>
                <a:spcPts val="95"/>
              </a:spcBef>
            </a:pPr>
            <a:r>
              <a:rPr sz="2950" b="1" spc="-10">
                <a:solidFill>
                  <a:srgbClr val="FFFFFF"/>
                </a:solidFill>
                <a:latin typeface="Tahoma"/>
                <a:cs typeface="Tahoma"/>
              </a:rPr>
              <a:t>Subespecialistas </a:t>
            </a:r>
            <a:r>
              <a:rPr sz="2950" b="1" spc="-75">
                <a:solidFill>
                  <a:srgbClr val="FFFFFF"/>
                </a:solidFill>
                <a:latin typeface="Tahoma"/>
                <a:cs typeface="Tahoma"/>
              </a:rPr>
              <a:t>em</a:t>
            </a:r>
            <a:r>
              <a:rPr sz="2950" b="1" spc="-3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50" b="1" spc="-10">
                <a:solidFill>
                  <a:srgbClr val="FFFFFF"/>
                </a:solidFill>
                <a:latin typeface="Tahoma"/>
                <a:cs typeface="Tahoma"/>
              </a:rPr>
              <a:t>plantão.</a:t>
            </a:r>
            <a:endParaRPr sz="295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</a:pPr>
            <a:r>
              <a:rPr sz="2950" spc="-185">
                <a:solidFill>
                  <a:srgbClr val="FFFFFF"/>
                </a:solidFill>
                <a:latin typeface="Verdana"/>
                <a:cs typeface="Verdana"/>
              </a:rPr>
              <a:t>Benefício:</a:t>
            </a:r>
            <a:r>
              <a:rPr sz="2950" spc="-4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00">
                <a:solidFill>
                  <a:srgbClr val="FFFFFF"/>
                </a:solidFill>
                <a:latin typeface="Verdana"/>
                <a:cs typeface="Verdana"/>
              </a:rPr>
              <a:t>Segurança </a:t>
            </a:r>
            <a:r>
              <a:rPr sz="2950" spc="-125">
                <a:solidFill>
                  <a:srgbClr val="FFFFFF"/>
                </a:solidFill>
                <a:latin typeface="Verdana"/>
                <a:cs typeface="Verdana"/>
              </a:rPr>
              <a:t>técnica</a:t>
            </a:r>
            <a:r>
              <a:rPr sz="2950" spc="-4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25">
                <a:solidFill>
                  <a:srgbClr val="FFFFFF"/>
                </a:solidFill>
                <a:latin typeface="Verdana"/>
                <a:cs typeface="Verdana"/>
              </a:rPr>
              <a:t>mesmo</a:t>
            </a:r>
            <a:r>
              <a:rPr sz="2950" spc="-4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5">
                <a:solidFill>
                  <a:srgbClr val="FFFFFF"/>
                </a:solidFill>
                <a:latin typeface="Verdana"/>
                <a:cs typeface="Verdana"/>
              </a:rPr>
              <a:t>nos </a:t>
            </a:r>
            <a:r>
              <a:rPr sz="2950" spc="-105">
                <a:solidFill>
                  <a:srgbClr val="FFFFFF"/>
                </a:solidFill>
                <a:latin typeface="Verdana"/>
                <a:cs typeface="Verdana"/>
              </a:rPr>
              <a:t>casos</a:t>
            </a:r>
            <a:r>
              <a:rPr sz="2950" spc="-4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0">
                <a:solidFill>
                  <a:srgbClr val="FFFFFF"/>
                </a:solidFill>
                <a:latin typeface="Verdana"/>
                <a:cs typeface="Verdana"/>
              </a:rPr>
              <a:t>mais </a:t>
            </a:r>
            <a:r>
              <a:rPr sz="2950" spc="-75">
                <a:solidFill>
                  <a:srgbClr val="FFFFFF"/>
                </a:solidFill>
                <a:latin typeface="Verdana"/>
                <a:cs typeface="Verdana"/>
              </a:rPr>
              <a:t>complexos.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54730" y="7199959"/>
            <a:ext cx="3563620" cy="314769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950" b="1" spc="-10">
                <a:solidFill>
                  <a:srgbClr val="FFFFFF"/>
                </a:solidFill>
                <a:latin typeface="Tahoma"/>
                <a:cs typeface="Tahoma"/>
              </a:rPr>
              <a:t>Modelo</a:t>
            </a:r>
            <a:endParaRPr sz="295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</a:pPr>
            <a:r>
              <a:rPr sz="2950" b="1">
                <a:solidFill>
                  <a:srgbClr val="FFFFFF"/>
                </a:solidFill>
                <a:latin typeface="Tahoma"/>
                <a:cs typeface="Tahoma"/>
              </a:rPr>
              <a:t>“Pay-</a:t>
            </a:r>
            <a:r>
              <a:rPr sz="2950" b="1" spc="-30">
                <a:solidFill>
                  <a:srgbClr val="FFFFFF"/>
                </a:solidFill>
                <a:latin typeface="Tahoma"/>
                <a:cs typeface="Tahoma"/>
              </a:rPr>
              <a:t>per-</a:t>
            </a:r>
            <a:r>
              <a:rPr sz="2950" b="1" spc="-10">
                <a:solidFill>
                  <a:srgbClr val="FFFFFF"/>
                </a:solidFill>
                <a:latin typeface="Tahoma"/>
                <a:cs typeface="Tahoma"/>
              </a:rPr>
              <a:t>report”. </a:t>
            </a:r>
            <a:r>
              <a:rPr sz="2950" spc="-185">
                <a:solidFill>
                  <a:srgbClr val="FFFFFF"/>
                </a:solidFill>
                <a:latin typeface="Verdana"/>
                <a:cs typeface="Verdana"/>
              </a:rPr>
              <a:t>Benefício:</a:t>
            </a:r>
            <a:r>
              <a:rPr sz="2950" spc="-4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70">
                <a:solidFill>
                  <a:srgbClr val="FFFFFF"/>
                </a:solidFill>
                <a:latin typeface="Verdana"/>
                <a:cs typeface="Verdana"/>
              </a:rPr>
              <a:t>Eliminação de</a:t>
            </a:r>
            <a:r>
              <a:rPr sz="2950" spc="-4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10">
                <a:solidFill>
                  <a:srgbClr val="FFFFFF"/>
                </a:solidFill>
                <a:latin typeface="Verdana"/>
                <a:cs typeface="Verdana"/>
              </a:rPr>
              <a:t>custos</a:t>
            </a:r>
            <a:r>
              <a:rPr sz="2950" spc="-4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60">
                <a:solidFill>
                  <a:srgbClr val="FFFFFF"/>
                </a:solidFill>
                <a:latin typeface="Verdana"/>
                <a:cs typeface="Verdana"/>
              </a:rPr>
              <a:t>fixos</a:t>
            </a:r>
            <a:r>
              <a:rPr sz="2950" spc="-4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50">
                <a:solidFill>
                  <a:srgbClr val="FFFFFF"/>
                </a:solidFill>
                <a:latin typeface="Verdana"/>
                <a:cs typeface="Verdana"/>
              </a:rPr>
              <a:t>e </a:t>
            </a:r>
            <a:r>
              <a:rPr sz="2950" spc="-125">
                <a:solidFill>
                  <a:srgbClr val="FFFFFF"/>
                </a:solidFill>
                <a:latin typeface="Verdana"/>
                <a:cs typeface="Verdana"/>
              </a:rPr>
              <a:t>previsibilidade </a:t>
            </a:r>
            <a:r>
              <a:rPr sz="2950" spc="-90">
                <a:solidFill>
                  <a:srgbClr val="FFFFFF"/>
                </a:solidFill>
                <a:latin typeface="Verdana"/>
                <a:cs typeface="Verdana"/>
              </a:rPr>
              <a:t>financeira.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09876" y="7199959"/>
            <a:ext cx="3821429" cy="262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95"/>
              </a:spcBef>
            </a:pPr>
            <a:r>
              <a:rPr sz="2950" b="1" spc="-105">
                <a:solidFill>
                  <a:srgbClr val="FFFFFF"/>
                </a:solidFill>
                <a:latin typeface="Tahoma"/>
                <a:cs typeface="Tahoma"/>
              </a:rPr>
              <a:t>Integração</a:t>
            </a:r>
            <a:r>
              <a:rPr sz="2950" b="1" spc="-2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50" b="1" spc="-10">
                <a:solidFill>
                  <a:srgbClr val="FFFFFF"/>
                </a:solidFill>
                <a:latin typeface="Tahoma"/>
                <a:cs typeface="Tahoma"/>
              </a:rPr>
              <a:t>sistêmica completa.</a:t>
            </a:r>
            <a:endParaRPr sz="2950">
              <a:latin typeface="Tahoma"/>
              <a:cs typeface="Tahoma"/>
            </a:endParaRPr>
          </a:p>
          <a:p>
            <a:pPr marL="12700" marR="18415">
              <a:lnSpc>
                <a:spcPct val="115700"/>
              </a:lnSpc>
            </a:pPr>
            <a:r>
              <a:rPr sz="2950" spc="-185">
                <a:solidFill>
                  <a:srgbClr val="FFFFFF"/>
                </a:solidFill>
                <a:latin typeface="Verdana"/>
                <a:cs typeface="Verdana"/>
              </a:rPr>
              <a:t>Benefício:</a:t>
            </a:r>
            <a:r>
              <a:rPr sz="2950" spc="-4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30">
                <a:solidFill>
                  <a:srgbClr val="FFFFFF"/>
                </a:solidFill>
                <a:latin typeface="Verdana"/>
                <a:cs typeface="Verdana"/>
              </a:rPr>
              <a:t>Fluidez </a:t>
            </a:r>
            <a:r>
              <a:rPr sz="2950" spc="-180">
                <a:solidFill>
                  <a:srgbClr val="FFFFFF"/>
                </a:solidFill>
                <a:latin typeface="Verdana"/>
                <a:cs typeface="Verdana"/>
              </a:rPr>
              <a:t>operacional</a:t>
            </a:r>
            <a:r>
              <a:rPr sz="2950" spc="-4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8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950" spc="-4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45">
                <a:solidFill>
                  <a:srgbClr val="FFFFFF"/>
                </a:solidFill>
                <a:latin typeface="Verdana"/>
                <a:cs typeface="Verdana"/>
              </a:rPr>
              <a:t>ganho</a:t>
            </a:r>
            <a:r>
              <a:rPr sz="2950" spc="-4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9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950" spc="-125">
                <a:solidFill>
                  <a:srgbClr val="FFFFFF"/>
                </a:solidFill>
                <a:latin typeface="Verdana"/>
                <a:cs typeface="Verdana"/>
              </a:rPr>
              <a:t>produtividade.</a:t>
            </a:r>
            <a:endParaRPr sz="2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76896" y="1081716"/>
            <a:ext cx="3718560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950" spc="-10">
                <a:solidFill>
                  <a:srgbClr val="FFFFFF"/>
                </a:solidFill>
                <a:latin typeface="Verdana"/>
                <a:cs typeface="Verdana"/>
              </a:rPr>
              <a:t>PROPOSTA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950" spc="2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|</a:t>
            </a:r>
            <a:r>
              <a:rPr sz="950" spc="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950" spc="2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3" name="object 3" descr="Image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5614" y="871093"/>
            <a:ext cx="2305793" cy="58278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60876" y="3836239"/>
            <a:ext cx="17211675" cy="363982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4450" spc="-220">
                <a:solidFill>
                  <a:srgbClr val="FFFFFF"/>
                </a:solidFill>
              </a:rPr>
              <a:t>Escala</a:t>
            </a:r>
            <a:r>
              <a:rPr sz="4450" spc="-730">
                <a:solidFill>
                  <a:srgbClr val="FFFFFF"/>
                </a:solidFill>
              </a:rPr>
              <a:t> </a:t>
            </a:r>
            <a:r>
              <a:rPr sz="4450" spc="-310">
                <a:solidFill>
                  <a:srgbClr val="FFFFFF"/>
                </a:solidFill>
              </a:rPr>
              <a:t>que</a:t>
            </a:r>
            <a:r>
              <a:rPr sz="4450" spc="-725">
                <a:solidFill>
                  <a:srgbClr val="FFFFFF"/>
                </a:solidFill>
              </a:rPr>
              <a:t> </a:t>
            </a:r>
            <a:r>
              <a:rPr sz="4450" spc="-400">
                <a:solidFill>
                  <a:srgbClr val="FFFFFF"/>
                </a:solidFill>
              </a:rPr>
              <a:t>gera</a:t>
            </a:r>
            <a:r>
              <a:rPr sz="4450" spc="-730">
                <a:solidFill>
                  <a:srgbClr val="FFFFFF"/>
                </a:solidFill>
              </a:rPr>
              <a:t> </a:t>
            </a:r>
            <a:r>
              <a:rPr sz="4450" spc="-265">
                <a:solidFill>
                  <a:srgbClr val="FFFFFF"/>
                </a:solidFill>
              </a:rPr>
              <a:t>confiança:</a:t>
            </a:r>
            <a:endParaRPr sz="4450"/>
          </a:p>
          <a:p>
            <a:pPr marL="12700" marR="5080">
              <a:lnSpc>
                <a:spcPct val="100400"/>
              </a:lnSpc>
              <a:spcBef>
                <a:spcPts val="630"/>
              </a:spcBef>
            </a:pPr>
            <a:r>
              <a:rPr sz="9200" b="1" spc="-114">
                <a:solidFill>
                  <a:srgbClr val="FFFFFF"/>
                </a:solidFill>
                <a:latin typeface="Tahoma"/>
                <a:cs typeface="Tahoma"/>
              </a:rPr>
              <a:t>Mais</a:t>
            </a:r>
            <a:r>
              <a:rPr sz="9200" b="1" spc="-10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12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9200" b="1" spc="-10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200">
                <a:solidFill>
                  <a:srgbClr val="FFFFFF"/>
                </a:solidFill>
                <a:latin typeface="Tahoma"/>
                <a:cs typeface="Tahoma"/>
              </a:rPr>
              <a:t>7,4</a:t>
            </a:r>
            <a:r>
              <a:rPr sz="9200" b="1" spc="-10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160">
                <a:solidFill>
                  <a:srgbClr val="FFFFFF"/>
                </a:solidFill>
                <a:latin typeface="Tahoma"/>
                <a:cs typeface="Tahoma"/>
              </a:rPr>
              <a:t>milhões</a:t>
            </a:r>
            <a:r>
              <a:rPr sz="9200" b="1" spc="-10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12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9200" b="1" spc="-10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90">
                <a:solidFill>
                  <a:srgbClr val="FFFFFF"/>
                </a:solidFill>
                <a:latin typeface="Tahoma"/>
                <a:cs typeface="Tahoma"/>
              </a:rPr>
              <a:t>exames </a:t>
            </a:r>
            <a:r>
              <a:rPr sz="9200" b="1" spc="-165">
                <a:solidFill>
                  <a:srgbClr val="FFFFFF"/>
                </a:solidFill>
                <a:latin typeface="Tahoma"/>
                <a:cs typeface="Tahoma"/>
              </a:rPr>
              <a:t>laudados</a:t>
            </a:r>
            <a:r>
              <a:rPr sz="9200" b="1" spc="-9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160">
                <a:solidFill>
                  <a:srgbClr val="FFFFFF"/>
                </a:solidFill>
                <a:latin typeface="Tahoma"/>
                <a:cs typeface="Tahoma"/>
              </a:rPr>
              <a:t>por</a:t>
            </a:r>
            <a:r>
              <a:rPr sz="9200" b="1" spc="-9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25">
                <a:solidFill>
                  <a:srgbClr val="FFFFFF"/>
                </a:solidFill>
                <a:latin typeface="Tahoma"/>
                <a:cs typeface="Tahoma"/>
              </a:rPr>
              <a:t>ano</a:t>
            </a:r>
            <a:endParaRPr sz="9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46407" y="3752316"/>
            <a:ext cx="3679190" cy="527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-145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3300" spc="-49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3300" spc="-110">
                <a:solidFill>
                  <a:srgbClr val="2B2B74"/>
                </a:solidFill>
                <a:latin typeface="Verdana"/>
                <a:cs typeface="Verdana"/>
              </a:rPr>
              <a:t>Métodos</a:t>
            </a:r>
            <a:r>
              <a:rPr sz="3300" spc="-49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3300" spc="-114">
                <a:solidFill>
                  <a:srgbClr val="2B2B74"/>
                </a:solidFill>
                <a:latin typeface="Verdana"/>
                <a:cs typeface="Verdana"/>
              </a:rPr>
              <a:t>Gráficos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822062" y="2914226"/>
            <a:ext cx="743267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8850" b="1" spc="-262" baseline="-28719">
                <a:solidFill>
                  <a:srgbClr val="DB5440"/>
                </a:solidFill>
                <a:latin typeface="Tahoma"/>
                <a:cs typeface="Tahoma"/>
              </a:rPr>
              <a:t>7.403.955</a:t>
            </a:r>
            <a:r>
              <a:rPr sz="8850" b="1" spc="-1695" baseline="-28719">
                <a:solidFill>
                  <a:srgbClr val="DB5440"/>
                </a:solidFill>
                <a:latin typeface="Tahoma"/>
                <a:cs typeface="Tahoma"/>
              </a:rPr>
              <a:t> </a:t>
            </a:r>
            <a:r>
              <a:rPr sz="3300" spc="-225"/>
              <a:t>Exames</a:t>
            </a:r>
            <a:r>
              <a:rPr sz="3300" spc="-480"/>
              <a:t> </a:t>
            </a:r>
            <a:r>
              <a:rPr sz="3300" spc="-170"/>
              <a:t>de</a:t>
            </a:r>
            <a:r>
              <a:rPr sz="3300" spc="-480"/>
              <a:t> </a:t>
            </a:r>
            <a:r>
              <a:rPr sz="3300" spc="-340"/>
              <a:t>Imagem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0121" y="2802083"/>
            <a:ext cx="8924925" cy="1846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-170">
                <a:solidFill>
                  <a:srgbClr val="2B2B74"/>
                </a:solidFill>
                <a:latin typeface="Verdana"/>
                <a:cs typeface="Verdana"/>
              </a:rPr>
              <a:t>Volumetria</a:t>
            </a:r>
            <a:r>
              <a:rPr sz="2950" spc="-3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950" spc="-25">
                <a:solidFill>
                  <a:srgbClr val="2B2B74"/>
                </a:solidFill>
                <a:latin typeface="Verdana"/>
                <a:cs typeface="Verdana"/>
              </a:rPr>
              <a:t>de</a:t>
            </a:r>
            <a:endParaRPr sz="2950">
              <a:latin typeface="Verdana"/>
              <a:cs typeface="Verdana"/>
            </a:endParaRPr>
          </a:p>
          <a:p>
            <a:pPr marL="12700">
              <a:lnSpc>
                <a:spcPts val="7080"/>
              </a:lnSpc>
              <a:spcBef>
                <a:spcPts val="165"/>
              </a:spcBef>
            </a:pPr>
            <a:r>
              <a:rPr sz="5900" b="1" spc="-85">
                <a:solidFill>
                  <a:srgbClr val="2B2B74"/>
                </a:solidFill>
                <a:latin typeface="Tahoma"/>
                <a:cs typeface="Tahoma"/>
              </a:rPr>
              <a:t>Exames</a:t>
            </a:r>
            <a:r>
              <a:rPr sz="5900" b="1" spc="-63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5900" b="1" spc="-80">
                <a:solidFill>
                  <a:srgbClr val="2B2B74"/>
                </a:solidFill>
                <a:latin typeface="Tahoma"/>
                <a:cs typeface="Tahoma"/>
              </a:rPr>
              <a:t>de</a:t>
            </a:r>
            <a:r>
              <a:rPr sz="5900" b="1" spc="-63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5900" b="1" spc="-375">
                <a:solidFill>
                  <a:srgbClr val="2B2B74"/>
                </a:solidFill>
                <a:latin typeface="Tahoma"/>
                <a:cs typeface="Tahoma"/>
              </a:rPr>
              <a:t>Imagem</a:t>
            </a:r>
            <a:r>
              <a:rPr sz="5900" b="1" spc="-645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5900" b="1" spc="-20">
                <a:solidFill>
                  <a:srgbClr val="2B2B74"/>
                </a:solidFill>
                <a:latin typeface="Tahoma"/>
                <a:cs typeface="Tahoma"/>
              </a:rPr>
              <a:t>Dasa</a:t>
            </a:r>
            <a:endParaRPr sz="5900">
              <a:latin typeface="Tahoma"/>
              <a:cs typeface="Tahoma"/>
            </a:endParaRPr>
          </a:p>
          <a:p>
            <a:pPr marL="12700">
              <a:lnSpc>
                <a:spcPts val="3540"/>
              </a:lnSpc>
            </a:pPr>
            <a:r>
              <a:rPr sz="2950" spc="-20">
                <a:solidFill>
                  <a:srgbClr val="2B2B74"/>
                </a:solidFill>
                <a:latin typeface="Verdana"/>
                <a:cs typeface="Verdana"/>
              </a:rPr>
              <a:t>2025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8657" y="5478504"/>
            <a:ext cx="346456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spc="-175">
                <a:solidFill>
                  <a:srgbClr val="2B2B74"/>
                </a:solidFill>
                <a:latin typeface="Tahoma"/>
                <a:cs typeface="Tahoma"/>
              </a:rPr>
              <a:t>1.075.886</a:t>
            </a:r>
            <a:r>
              <a:rPr sz="3300" b="1" spc="-365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29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60">
                <a:solidFill>
                  <a:srgbClr val="2B2B74"/>
                </a:solidFill>
                <a:latin typeface="Verdana"/>
                <a:cs typeface="Verdana"/>
              </a:rPr>
              <a:t>de </a:t>
            </a:r>
            <a:r>
              <a:rPr sz="2300" spc="-110">
                <a:solidFill>
                  <a:srgbClr val="2B2B74"/>
                </a:solidFill>
                <a:latin typeface="Verdana"/>
                <a:cs typeface="Verdana"/>
              </a:rPr>
              <a:t>Ressonância</a:t>
            </a:r>
            <a:r>
              <a:rPr sz="2300" spc="-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10">
                <a:solidFill>
                  <a:srgbClr val="2B2B74"/>
                </a:solidFill>
                <a:latin typeface="Verdana"/>
                <a:cs typeface="Verdana"/>
              </a:rPr>
              <a:t>Magnética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7507" y="6768140"/>
            <a:ext cx="3150870" cy="21437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2384" marR="5080">
              <a:lnSpc>
                <a:spcPct val="100200"/>
              </a:lnSpc>
              <a:spcBef>
                <a:spcPts val="85"/>
              </a:spcBef>
            </a:pPr>
            <a:r>
              <a:rPr sz="3300" b="1" spc="-155">
                <a:solidFill>
                  <a:srgbClr val="2B2B74"/>
                </a:solidFill>
                <a:latin typeface="Tahoma"/>
                <a:cs typeface="Tahoma"/>
              </a:rPr>
              <a:t>472.328</a:t>
            </a:r>
            <a:r>
              <a:rPr sz="3300" b="1" spc="-275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30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85">
                <a:solidFill>
                  <a:srgbClr val="2B2B74"/>
                </a:solidFill>
                <a:latin typeface="Verdana"/>
                <a:cs typeface="Verdana"/>
              </a:rPr>
              <a:t>de </a:t>
            </a:r>
            <a:r>
              <a:rPr sz="2300" spc="-40">
                <a:solidFill>
                  <a:srgbClr val="2B2B74"/>
                </a:solidFill>
                <a:latin typeface="Verdana"/>
                <a:cs typeface="Verdana"/>
              </a:rPr>
              <a:t>Tomografia </a:t>
            </a:r>
            <a:r>
              <a:rPr sz="2300" spc="-60">
                <a:solidFill>
                  <a:srgbClr val="2B2B74"/>
                </a:solidFill>
                <a:latin typeface="Verdana"/>
                <a:cs typeface="Verdana"/>
              </a:rPr>
              <a:t>Computadorizada</a:t>
            </a:r>
            <a:endParaRPr sz="2300">
              <a:latin typeface="Verdana"/>
              <a:cs typeface="Verdana"/>
            </a:endParaRPr>
          </a:p>
          <a:p>
            <a:pPr marL="12700" marR="7620">
              <a:lnSpc>
                <a:spcPct val="100000"/>
              </a:lnSpc>
              <a:spcBef>
                <a:spcPts val="475"/>
              </a:spcBef>
            </a:pPr>
            <a:r>
              <a:rPr sz="3300" b="1" spc="-145">
                <a:solidFill>
                  <a:srgbClr val="2B2B74"/>
                </a:solidFill>
                <a:latin typeface="Tahoma"/>
                <a:cs typeface="Tahoma"/>
              </a:rPr>
              <a:t>790.200</a:t>
            </a:r>
            <a:r>
              <a:rPr sz="3300" b="1" spc="-28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29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55">
                <a:solidFill>
                  <a:srgbClr val="2B2B74"/>
                </a:solidFill>
                <a:latin typeface="Verdana"/>
                <a:cs typeface="Verdana"/>
              </a:rPr>
              <a:t>de </a:t>
            </a:r>
            <a:r>
              <a:rPr sz="2300" spc="-120">
                <a:solidFill>
                  <a:srgbClr val="2B2B74"/>
                </a:solidFill>
                <a:latin typeface="Verdana"/>
                <a:cs typeface="Verdana"/>
              </a:rPr>
              <a:t>Raio-</a:t>
            </a:r>
            <a:r>
              <a:rPr sz="2300" spc="-50">
                <a:solidFill>
                  <a:srgbClr val="2B2B74"/>
                </a:solidFill>
                <a:latin typeface="Verdana"/>
                <a:cs typeface="Verdana"/>
              </a:rPr>
              <a:t>X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2185" y="5478504"/>
            <a:ext cx="31451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spc="-145">
                <a:solidFill>
                  <a:srgbClr val="2B2B74"/>
                </a:solidFill>
                <a:latin typeface="Tahoma"/>
                <a:cs typeface="Tahoma"/>
              </a:rPr>
              <a:t>267.906</a:t>
            </a:r>
            <a:r>
              <a:rPr sz="3300" b="1" spc="-325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29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45">
                <a:solidFill>
                  <a:srgbClr val="2B2B74"/>
                </a:solidFill>
                <a:latin typeface="Verdana"/>
                <a:cs typeface="Verdana"/>
              </a:rPr>
              <a:t>de </a:t>
            </a:r>
            <a:r>
              <a:rPr sz="2300" spc="-135">
                <a:solidFill>
                  <a:srgbClr val="2B2B74"/>
                </a:solidFill>
                <a:latin typeface="Verdana"/>
                <a:cs typeface="Verdana"/>
              </a:rPr>
              <a:t>Densitometria</a:t>
            </a:r>
            <a:r>
              <a:rPr sz="2300" spc="-21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10">
                <a:solidFill>
                  <a:srgbClr val="2B2B74"/>
                </a:solidFill>
                <a:latin typeface="Verdana"/>
                <a:cs typeface="Verdana"/>
              </a:rPr>
              <a:t>Óssea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2185" y="6869414"/>
            <a:ext cx="3491865" cy="777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z="3300" b="1" spc="-155">
                <a:solidFill>
                  <a:srgbClr val="2B2B74"/>
                </a:solidFill>
                <a:latin typeface="Tahoma"/>
                <a:cs typeface="Tahoma"/>
              </a:rPr>
              <a:t>3.904.016</a:t>
            </a:r>
            <a:r>
              <a:rPr sz="3300" b="1" spc="-30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30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35">
                <a:solidFill>
                  <a:srgbClr val="2B2B74"/>
                </a:solidFill>
                <a:latin typeface="Verdana"/>
                <a:cs typeface="Verdana"/>
              </a:rPr>
              <a:t>de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spc="-55">
                <a:solidFill>
                  <a:srgbClr val="2B2B74"/>
                </a:solidFill>
                <a:latin typeface="Verdana"/>
                <a:cs typeface="Verdana"/>
              </a:rPr>
              <a:t>Ultrassonografia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8627" y="9439284"/>
            <a:ext cx="2910205" cy="777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z="3300" b="1" spc="-125">
                <a:solidFill>
                  <a:srgbClr val="2B2B74"/>
                </a:solidFill>
                <a:latin typeface="Tahoma"/>
                <a:cs typeface="Tahoma"/>
              </a:rPr>
              <a:t>37.335</a:t>
            </a:r>
            <a:r>
              <a:rPr sz="3300" b="1" spc="-28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31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25">
                <a:solidFill>
                  <a:srgbClr val="2B2B74"/>
                </a:solidFill>
                <a:latin typeface="Verdana"/>
                <a:cs typeface="Verdana"/>
              </a:rPr>
              <a:t>de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spc="-40">
                <a:solidFill>
                  <a:srgbClr val="2B2B74"/>
                </a:solidFill>
                <a:latin typeface="Verdana"/>
                <a:cs typeface="Verdana"/>
              </a:rPr>
              <a:t>Cintilografia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12081" y="8033232"/>
            <a:ext cx="336232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spc="-120">
                <a:solidFill>
                  <a:srgbClr val="2B2B74"/>
                </a:solidFill>
                <a:latin typeface="Tahoma"/>
                <a:cs typeface="Tahoma"/>
              </a:rPr>
              <a:t>9.625</a:t>
            </a:r>
            <a:r>
              <a:rPr sz="3300" b="1" spc="-335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3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120">
                <a:solidFill>
                  <a:srgbClr val="2B2B74"/>
                </a:solidFill>
                <a:latin typeface="Verdana"/>
                <a:cs typeface="Verdana"/>
              </a:rPr>
              <a:t>de</a:t>
            </a:r>
            <a:r>
              <a:rPr sz="2300" spc="-37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35">
                <a:solidFill>
                  <a:srgbClr val="2B2B74"/>
                </a:solidFill>
                <a:latin typeface="Verdana"/>
                <a:cs typeface="Verdana"/>
              </a:rPr>
              <a:t>PET-</a:t>
            </a:r>
            <a:r>
              <a:rPr sz="2300" spc="-25">
                <a:solidFill>
                  <a:srgbClr val="2B2B74"/>
                </a:solidFill>
                <a:latin typeface="Verdana"/>
                <a:cs typeface="Verdana"/>
              </a:rPr>
              <a:t>CT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6670" y="9334659"/>
            <a:ext cx="312483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b="1" spc="-165">
                <a:solidFill>
                  <a:srgbClr val="2B2B74"/>
                </a:solidFill>
                <a:latin typeface="Tahoma"/>
                <a:cs typeface="Tahoma"/>
              </a:rPr>
              <a:t>373.747</a:t>
            </a:r>
            <a:r>
              <a:rPr sz="3300" b="1" spc="-29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30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70">
                <a:solidFill>
                  <a:srgbClr val="2B2B74"/>
                </a:solidFill>
                <a:latin typeface="Verdana"/>
                <a:cs typeface="Verdana"/>
              </a:rPr>
              <a:t>de </a:t>
            </a:r>
            <a:r>
              <a:rPr sz="2300" spc="-30">
                <a:solidFill>
                  <a:srgbClr val="2B2B74"/>
                </a:solidFill>
                <a:latin typeface="Verdana"/>
                <a:cs typeface="Verdana"/>
              </a:rPr>
              <a:t>Mamografia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14716" y="6887278"/>
            <a:ext cx="3001645" cy="776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z="3300" b="1" spc="-295">
                <a:solidFill>
                  <a:srgbClr val="2B2B74"/>
                </a:solidFill>
                <a:latin typeface="Tahoma"/>
                <a:cs typeface="Tahoma"/>
              </a:rPr>
              <a:t>241.310</a:t>
            </a:r>
            <a:r>
              <a:rPr sz="3300" b="1" spc="-31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32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35">
                <a:solidFill>
                  <a:srgbClr val="2B2B74"/>
                </a:solidFill>
                <a:latin typeface="Verdana"/>
                <a:cs typeface="Verdana"/>
              </a:rPr>
              <a:t>de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spc="-70">
                <a:solidFill>
                  <a:srgbClr val="2B2B74"/>
                </a:solidFill>
                <a:latin typeface="Verdana"/>
                <a:cs typeface="Verdana"/>
              </a:rPr>
              <a:t>Eletrocardiograma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57709" y="9329711"/>
            <a:ext cx="961390" cy="935355"/>
            <a:chOff x="6657709" y="9329711"/>
            <a:chExt cx="961390" cy="935355"/>
          </a:xfrm>
        </p:grpSpPr>
        <p:pic>
          <p:nvPicPr>
            <p:cNvPr id="14" name="object 14" descr="Imagem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7709" y="9329711"/>
              <a:ext cx="904766" cy="934933"/>
            </a:xfrm>
            <a:prstGeom prst="rect">
              <a:avLst/>
            </a:prstGeom>
          </p:spPr>
        </p:pic>
        <p:pic>
          <p:nvPicPr>
            <p:cNvPr id="15" name="object 15" descr="Imagem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6598" y="9438466"/>
              <a:ext cx="811985" cy="69598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4351679" y="8214128"/>
            <a:ext cx="37871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125">
                <a:solidFill>
                  <a:srgbClr val="2B2B74"/>
                </a:solidFill>
                <a:latin typeface="Tahoma"/>
                <a:cs typeface="Tahoma"/>
              </a:rPr>
              <a:t>97.840</a:t>
            </a:r>
            <a:r>
              <a:rPr sz="3300" b="1" spc="-33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31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120">
                <a:solidFill>
                  <a:srgbClr val="2B2B74"/>
                </a:solidFill>
                <a:latin typeface="Verdana"/>
                <a:cs typeface="Verdana"/>
              </a:rPr>
              <a:t>de</a:t>
            </a:r>
            <a:r>
              <a:rPr sz="2300" spc="-3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65">
                <a:solidFill>
                  <a:srgbClr val="2B2B74"/>
                </a:solidFill>
                <a:latin typeface="Verdana"/>
                <a:cs typeface="Verdana"/>
              </a:rPr>
              <a:t>Holter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335345" y="9591602"/>
            <a:ext cx="3083560" cy="777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3300" b="1" spc="-200">
                <a:solidFill>
                  <a:srgbClr val="2B2B74"/>
                </a:solidFill>
                <a:latin typeface="Tahoma"/>
                <a:cs typeface="Tahoma"/>
              </a:rPr>
              <a:t>132.353</a:t>
            </a:r>
            <a:r>
              <a:rPr sz="3300" b="1" spc="-31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31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50">
                <a:solidFill>
                  <a:srgbClr val="2B2B74"/>
                </a:solidFill>
                <a:latin typeface="Verdana"/>
                <a:cs typeface="Verdana"/>
              </a:rPr>
              <a:t>de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spc="-20">
                <a:solidFill>
                  <a:srgbClr val="2B2B74"/>
                </a:solidFill>
                <a:latin typeface="Verdana"/>
                <a:cs typeface="Verdana"/>
              </a:rPr>
              <a:t>MAPA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314716" y="5592281"/>
            <a:ext cx="3922395" cy="777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z="3300" b="1" spc="-220">
                <a:solidFill>
                  <a:srgbClr val="2B2B74"/>
                </a:solidFill>
                <a:latin typeface="Tahoma"/>
                <a:cs typeface="Tahoma"/>
              </a:rPr>
              <a:t>471.503</a:t>
            </a:r>
            <a:r>
              <a:rPr sz="3300" b="1" spc="-295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300" spc="-155">
                <a:solidFill>
                  <a:srgbClr val="2B2B74"/>
                </a:solidFill>
                <a:latin typeface="Verdana"/>
                <a:cs typeface="Verdana"/>
              </a:rPr>
              <a:t>exames</a:t>
            </a:r>
            <a:r>
              <a:rPr sz="2300" spc="-31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2300" spc="-35">
                <a:solidFill>
                  <a:srgbClr val="2B2B74"/>
                </a:solidFill>
                <a:latin typeface="Verdana"/>
                <a:cs typeface="Verdana"/>
              </a:rPr>
              <a:t>Métodos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spc="-10">
                <a:solidFill>
                  <a:srgbClr val="2B2B74"/>
                </a:solidFill>
                <a:latin typeface="Verdana"/>
                <a:cs typeface="Verdana"/>
              </a:rPr>
              <a:t>Gráficos</a:t>
            </a:r>
            <a:endParaRPr sz="2300">
              <a:latin typeface="Verdana"/>
              <a:cs typeface="Verdana"/>
            </a:endParaRPr>
          </a:p>
        </p:txBody>
      </p:sp>
      <p:pic>
        <p:nvPicPr>
          <p:cNvPr id="19" name="object 19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9902" y="5547419"/>
            <a:ext cx="774218" cy="669511"/>
          </a:xfrm>
          <a:prstGeom prst="rect">
            <a:avLst/>
          </a:prstGeom>
        </p:spPr>
      </p:pic>
      <p:pic>
        <p:nvPicPr>
          <p:cNvPr id="20" name="object 20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9253" y="6806544"/>
            <a:ext cx="774218" cy="669511"/>
          </a:xfrm>
          <a:prstGeom prst="rect">
            <a:avLst/>
          </a:prstGeom>
        </p:spPr>
      </p:pic>
      <p:pic>
        <p:nvPicPr>
          <p:cNvPr id="21" name="object 21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669" y="8130482"/>
            <a:ext cx="774218" cy="669511"/>
          </a:xfrm>
          <a:prstGeom prst="rect">
            <a:avLst/>
          </a:prstGeom>
        </p:spPr>
      </p:pic>
      <p:pic>
        <p:nvPicPr>
          <p:cNvPr id="22" name="object 22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669" y="9451594"/>
            <a:ext cx="774218" cy="669511"/>
          </a:xfrm>
          <a:prstGeom prst="rect">
            <a:avLst/>
          </a:prstGeom>
        </p:spPr>
      </p:pic>
      <p:pic>
        <p:nvPicPr>
          <p:cNvPr id="23" name="object 23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4544" y="5545535"/>
            <a:ext cx="774218" cy="669511"/>
          </a:xfrm>
          <a:prstGeom prst="rect">
            <a:avLst/>
          </a:prstGeom>
        </p:spPr>
      </p:pic>
      <p:pic>
        <p:nvPicPr>
          <p:cNvPr id="24" name="object 24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3916" y="6804659"/>
            <a:ext cx="774218" cy="669511"/>
          </a:xfrm>
          <a:prstGeom prst="rect">
            <a:avLst/>
          </a:prstGeom>
        </p:spPr>
      </p:pic>
      <p:pic>
        <p:nvPicPr>
          <p:cNvPr id="25" name="object 25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9259" y="8128702"/>
            <a:ext cx="774218" cy="669511"/>
          </a:xfrm>
          <a:prstGeom prst="rect">
            <a:avLst/>
          </a:prstGeom>
        </p:spPr>
      </p:pic>
      <p:pic>
        <p:nvPicPr>
          <p:cNvPr id="26" name="object 26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13250" y="5547419"/>
            <a:ext cx="774218" cy="669511"/>
          </a:xfrm>
          <a:prstGeom prst="rect">
            <a:avLst/>
          </a:prstGeom>
        </p:spPr>
      </p:pic>
      <p:pic>
        <p:nvPicPr>
          <p:cNvPr id="27" name="object 27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12517" y="6806544"/>
            <a:ext cx="774218" cy="669511"/>
          </a:xfrm>
          <a:prstGeom prst="rect">
            <a:avLst/>
          </a:prstGeom>
        </p:spPr>
      </p:pic>
      <p:pic>
        <p:nvPicPr>
          <p:cNvPr id="28" name="object 28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37964" y="8130482"/>
            <a:ext cx="774218" cy="669511"/>
          </a:xfrm>
          <a:prstGeom prst="rect">
            <a:avLst/>
          </a:prstGeom>
        </p:spPr>
      </p:pic>
      <p:pic>
        <p:nvPicPr>
          <p:cNvPr id="29" name="object 29" descr="Imagem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37964" y="9451594"/>
            <a:ext cx="774218" cy="669511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5088850" y="1556706"/>
            <a:ext cx="13843000" cy="0"/>
          </a:xfrm>
          <a:custGeom>
            <a:avLst/>
            <a:gdLst/>
            <a:ahLst/>
            <a:cxnLst/>
            <a:rect l="l" t="t" r="r" b="b"/>
            <a:pathLst>
              <a:path w="13843000">
                <a:moveTo>
                  <a:pt x="0" y="0"/>
                </a:moveTo>
                <a:lnTo>
                  <a:pt x="13842510" y="0"/>
                </a:lnTo>
              </a:path>
            </a:pathLst>
          </a:custGeom>
          <a:ln w="20941">
            <a:solidFill>
              <a:srgbClr val="0D12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4976896" y="1081716"/>
            <a:ext cx="3718560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950" spc="-10">
                <a:solidFill>
                  <a:srgbClr val="2B2B74"/>
                </a:solidFill>
                <a:latin typeface="Verdana"/>
                <a:cs typeface="Verdana"/>
              </a:rPr>
              <a:t>PROPOSTA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|</a:t>
            </a:r>
            <a:r>
              <a:rPr sz="950" spc="2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X</a:t>
            </a:r>
            <a:r>
              <a:rPr sz="950" spc="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2B2B74"/>
                </a:solidFill>
                <a:latin typeface="Verdana"/>
                <a:cs typeface="Verdana"/>
              </a:rPr>
              <a:t>B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2B2B74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32" name="object 32" descr="Imagem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6661" y="871324"/>
            <a:ext cx="2303594" cy="582244"/>
          </a:xfrm>
          <a:prstGeom prst="rect">
            <a:avLst/>
          </a:prstGeom>
        </p:spPr>
      </p:pic>
      <p:pic>
        <p:nvPicPr>
          <p:cNvPr id="33" name="object 33" descr="Imagem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59481" y="2583764"/>
            <a:ext cx="1209177" cy="10313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2764"/>
            <a:ext cx="20104100" cy="5826125"/>
          </a:xfrm>
          <a:custGeom>
            <a:avLst/>
            <a:gdLst/>
            <a:ahLst/>
            <a:cxnLst/>
            <a:rect l="l" t="t" r="r" b="b"/>
            <a:pathLst>
              <a:path w="20104100" h="5826125">
                <a:moveTo>
                  <a:pt x="19276481" y="0"/>
                </a:moveTo>
                <a:lnTo>
                  <a:pt x="827597" y="0"/>
                </a:lnTo>
                <a:lnTo>
                  <a:pt x="778970" y="1405"/>
                </a:lnTo>
                <a:lnTo>
                  <a:pt x="731083" y="5568"/>
                </a:lnTo>
                <a:lnTo>
                  <a:pt x="684013" y="12412"/>
                </a:lnTo>
                <a:lnTo>
                  <a:pt x="637838" y="21859"/>
                </a:lnTo>
                <a:lnTo>
                  <a:pt x="592636" y="33831"/>
                </a:lnTo>
                <a:lnTo>
                  <a:pt x="548485" y="48251"/>
                </a:lnTo>
                <a:lnTo>
                  <a:pt x="505461" y="65042"/>
                </a:lnTo>
                <a:lnTo>
                  <a:pt x="463643" y="84124"/>
                </a:lnTo>
                <a:lnTo>
                  <a:pt x="423108" y="105422"/>
                </a:lnTo>
                <a:lnTo>
                  <a:pt x="383934" y="128856"/>
                </a:lnTo>
                <a:lnTo>
                  <a:pt x="346199" y="154351"/>
                </a:lnTo>
                <a:lnTo>
                  <a:pt x="309979" y="181827"/>
                </a:lnTo>
                <a:lnTo>
                  <a:pt x="275354" y="211207"/>
                </a:lnTo>
                <a:lnTo>
                  <a:pt x="242399" y="242414"/>
                </a:lnTo>
                <a:lnTo>
                  <a:pt x="211194" y="275369"/>
                </a:lnTo>
                <a:lnTo>
                  <a:pt x="181815" y="309996"/>
                </a:lnTo>
                <a:lnTo>
                  <a:pt x="154340" y="346217"/>
                </a:lnTo>
                <a:lnTo>
                  <a:pt x="128848" y="383954"/>
                </a:lnTo>
                <a:lnTo>
                  <a:pt x="105415" y="423129"/>
                </a:lnTo>
                <a:lnTo>
                  <a:pt x="84118" y="463664"/>
                </a:lnTo>
                <a:lnTo>
                  <a:pt x="65037" y="505483"/>
                </a:lnTo>
                <a:lnTo>
                  <a:pt x="48248" y="548507"/>
                </a:lnTo>
                <a:lnTo>
                  <a:pt x="33829" y="592659"/>
                </a:lnTo>
                <a:lnTo>
                  <a:pt x="21857" y="637861"/>
                </a:lnTo>
                <a:lnTo>
                  <a:pt x="12411" y="684036"/>
                </a:lnTo>
                <a:lnTo>
                  <a:pt x="5567" y="731105"/>
                </a:lnTo>
                <a:lnTo>
                  <a:pt x="1404" y="778992"/>
                </a:lnTo>
                <a:lnTo>
                  <a:pt x="0" y="827618"/>
                </a:lnTo>
                <a:lnTo>
                  <a:pt x="0" y="5825791"/>
                </a:lnTo>
                <a:lnTo>
                  <a:pt x="20104099" y="5825791"/>
                </a:lnTo>
                <a:lnTo>
                  <a:pt x="20104100" y="827618"/>
                </a:lnTo>
                <a:lnTo>
                  <a:pt x="20102694" y="778992"/>
                </a:lnTo>
                <a:lnTo>
                  <a:pt x="20098531" y="731105"/>
                </a:lnTo>
                <a:lnTo>
                  <a:pt x="20091687" y="684036"/>
                </a:lnTo>
                <a:lnTo>
                  <a:pt x="20082240" y="637861"/>
                </a:lnTo>
                <a:lnTo>
                  <a:pt x="20070268" y="592659"/>
                </a:lnTo>
                <a:lnTo>
                  <a:pt x="20055847" y="548507"/>
                </a:lnTo>
                <a:lnTo>
                  <a:pt x="20039057" y="505483"/>
                </a:lnTo>
                <a:lnTo>
                  <a:pt x="20019975" y="463664"/>
                </a:lnTo>
                <a:lnTo>
                  <a:pt x="19998677" y="423129"/>
                </a:lnTo>
                <a:lnTo>
                  <a:pt x="19975242" y="383954"/>
                </a:lnTo>
                <a:lnTo>
                  <a:pt x="19949748" y="346217"/>
                </a:lnTo>
                <a:lnTo>
                  <a:pt x="19922272" y="309996"/>
                </a:lnTo>
                <a:lnTo>
                  <a:pt x="19892892" y="275369"/>
                </a:lnTo>
                <a:lnTo>
                  <a:pt x="19861685" y="242414"/>
                </a:lnTo>
                <a:lnTo>
                  <a:pt x="19828730" y="211207"/>
                </a:lnTo>
                <a:lnTo>
                  <a:pt x="19794103" y="181827"/>
                </a:lnTo>
                <a:lnTo>
                  <a:pt x="19757882" y="154351"/>
                </a:lnTo>
                <a:lnTo>
                  <a:pt x="19720145" y="128856"/>
                </a:lnTo>
                <a:lnTo>
                  <a:pt x="19680970" y="105422"/>
                </a:lnTo>
                <a:lnTo>
                  <a:pt x="19640435" y="84124"/>
                </a:lnTo>
                <a:lnTo>
                  <a:pt x="19598616" y="65042"/>
                </a:lnTo>
                <a:lnTo>
                  <a:pt x="19555592" y="48251"/>
                </a:lnTo>
                <a:lnTo>
                  <a:pt x="19511440" y="33831"/>
                </a:lnTo>
                <a:lnTo>
                  <a:pt x="19466237" y="21859"/>
                </a:lnTo>
                <a:lnTo>
                  <a:pt x="19420063" y="12412"/>
                </a:lnTo>
                <a:lnTo>
                  <a:pt x="19372993" y="5568"/>
                </a:lnTo>
                <a:lnTo>
                  <a:pt x="19325107" y="1405"/>
                </a:lnTo>
                <a:lnTo>
                  <a:pt x="19276481" y="0"/>
                </a:lnTo>
                <a:close/>
              </a:path>
            </a:pathLst>
          </a:custGeom>
          <a:solidFill>
            <a:srgbClr val="0D12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88850" y="1556706"/>
            <a:ext cx="13843000" cy="0"/>
          </a:xfrm>
          <a:custGeom>
            <a:avLst/>
            <a:gdLst/>
            <a:ahLst/>
            <a:cxnLst/>
            <a:rect l="l" t="t" r="r" b="b"/>
            <a:pathLst>
              <a:path w="13843000">
                <a:moveTo>
                  <a:pt x="0" y="0"/>
                </a:moveTo>
                <a:lnTo>
                  <a:pt x="13842510" y="0"/>
                </a:lnTo>
              </a:path>
            </a:pathLst>
          </a:custGeom>
          <a:ln w="20941">
            <a:solidFill>
              <a:srgbClr val="0D12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76896" y="1081716"/>
            <a:ext cx="3718560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950" spc="-10">
                <a:solidFill>
                  <a:srgbClr val="2B2B74"/>
                </a:solidFill>
                <a:latin typeface="Verdana"/>
                <a:cs typeface="Verdana"/>
              </a:rPr>
              <a:t>PROPOSTA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|</a:t>
            </a:r>
            <a:r>
              <a:rPr sz="950" spc="2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X</a:t>
            </a:r>
            <a:r>
              <a:rPr sz="950" spc="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2B2B74"/>
                </a:solidFill>
                <a:latin typeface="Verdana"/>
                <a:cs typeface="Verdana"/>
              </a:rPr>
              <a:t>B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2B2B74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5" name="object 5" descr="Image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661" y="871324"/>
            <a:ext cx="2303594" cy="58224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437" rIns="0" bIns="0" rtlCol="0">
            <a:spAutoFit/>
          </a:bodyPr>
          <a:lstStyle/>
          <a:p>
            <a:pPr marL="389255">
              <a:lnSpc>
                <a:spcPct val="100000"/>
              </a:lnSpc>
              <a:spcBef>
                <a:spcPts val="90"/>
              </a:spcBef>
            </a:pPr>
            <a:r>
              <a:rPr spc="-345"/>
              <a:t>Corpo</a:t>
            </a:r>
            <a:r>
              <a:rPr spc="-1285"/>
              <a:t> </a:t>
            </a:r>
            <a:r>
              <a:rPr spc="-310"/>
              <a:t>Clínico</a:t>
            </a:r>
            <a:r>
              <a:rPr spc="-1295"/>
              <a:t> </a:t>
            </a:r>
            <a:r>
              <a:rPr spc="-395"/>
              <a:t>e</a:t>
            </a:r>
            <a:r>
              <a:rPr spc="-1310"/>
              <a:t> </a:t>
            </a:r>
            <a:r>
              <a:rPr spc="-445"/>
              <a:t>Liderança</a:t>
            </a:r>
            <a:r>
              <a:rPr spc="-1280"/>
              <a:t> </a:t>
            </a:r>
            <a:r>
              <a:rPr spc="-390"/>
              <a:t>Estratégica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22236" y="7139857"/>
            <a:ext cx="2696210" cy="7194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950" b="1" spc="-25">
                <a:solidFill>
                  <a:srgbClr val="FFFFFF"/>
                </a:solidFill>
                <a:latin typeface="Tahoma"/>
                <a:cs typeface="Tahoma"/>
              </a:rPr>
              <a:t>Dr.</a:t>
            </a:r>
            <a:r>
              <a:rPr sz="1950" b="1" spc="-1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b="1" spc="-60">
                <a:solidFill>
                  <a:srgbClr val="FFFFFF"/>
                </a:solidFill>
                <a:latin typeface="Tahoma"/>
                <a:cs typeface="Tahoma"/>
              </a:rPr>
              <a:t>Romeu</a:t>
            </a:r>
            <a:r>
              <a:rPr sz="1950" b="1" spc="-1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b="1" spc="-25">
                <a:solidFill>
                  <a:srgbClr val="FFFFFF"/>
                </a:solidFill>
                <a:latin typeface="Tahoma"/>
                <a:cs typeface="Tahoma"/>
              </a:rPr>
              <a:t>Domingues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950" spc="-80">
                <a:solidFill>
                  <a:srgbClr val="FFFFFF"/>
                </a:solidFill>
                <a:latin typeface="Verdana"/>
                <a:cs typeface="Verdana"/>
              </a:rPr>
              <a:t>Presidente</a:t>
            </a:r>
            <a:r>
              <a:rPr sz="1950" spc="-2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8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95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5">
                <a:solidFill>
                  <a:srgbClr val="FFFFFF"/>
                </a:solidFill>
                <a:latin typeface="Verdana"/>
                <a:cs typeface="Verdana"/>
              </a:rPr>
              <a:t>Conselho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2236" y="8302173"/>
            <a:ext cx="3815715" cy="17602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395"/>
              </a:spcBef>
              <a:buChar char="•"/>
              <a:tabLst>
                <a:tab pos="144780" algn="l"/>
              </a:tabLst>
            </a:pPr>
            <a:r>
              <a:rPr sz="1650" spc="-75">
                <a:solidFill>
                  <a:srgbClr val="FFFFFF"/>
                </a:solidFill>
                <a:latin typeface="Verdana"/>
                <a:cs typeface="Verdana"/>
              </a:rPr>
              <a:t>Fellow</a:t>
            </a:r>
            <a:r>
              <a:rPr sz="165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25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5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Ressonância</a:t>
            </a:r>
            <a:r>
              <a:rPr sz="165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0">
                <a:solidFill>
                  <a:srgbClr val="FFFFFF"/>
                </a:solidFill>
                <a:latin typeface="Verdana"/>
                <a:cs typeface="Verdana"/>
              </a:rPr>
              <a:t>Magnética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20">
                <a:solidFill>
                  <a:srgbClr val="FFFFFF"/>
                </a:solidFill>
                <a:latin typeface="Verdana"/>
                <a:cs typeface="Verdana"/>
              </a:rPr>
              <a:t>pela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650" b="1" spc="-40">
                <a:solidFill>
                  <a:srgbClr val="FFFFFF"/>
                </a:solidFill>
                <a:latin typeface="Tahoma"/>
                <a:cs typeface="Tahoma"/>
              </a:rPr>
              <a:t>Universidade</a:t>
            </a:r>
            <a:r>
              <a:rPr sz="1650" b="1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3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1650" b="1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0">
                <a:solidFill>
                  <a:srgbClr val="FFFFFF"/>
                </a:solidFill>
                <a:latin typeface="Tahoma"/>
                <a:cs typeface="Tahoma"/>
              </a:rPr>
              <a:t>Harvard</a:t>
            </a:r>
            <a:r>
              <a:rPr sz="1650" spc="-1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650">
              <a:latin typeface="Verdana"/>
              <a:cs typeface="Verdana"/>
            </a:endParaRPr>
          </a:p>
          <a:p>
            <a:pPr marL="12700" marR="147955" indent="132715">
              <a:lnSpc>
                <a:spcPct val="114900"/>
              </a:lnSpc>
              <a:buChar char="•"/>
              <a:tabLst>
                <a:tab pos="145415" algn="l"/>
              </a:tabLst>
            </a:pP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Pioneiro</a:t>
            </a:r>
            <a:r>
              <a:rPr sz="165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2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16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introdução</a:t>
            </a:r>
            <a:r>
              <a:rPr sz="16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9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5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65">
                <a:solidFill>
                  <a:srgbClr val="FFFFFF"/>
                </a:solidFill>
                <a:latin typeface="Verdana"/>
                <a:cs typeface="Verdana"/>
              </a:rPr>
              <a:t>tecnologias </a:t>
            </a:r>
            <a:r>
              <a:rPr sz="1650" spc="-50">
                <a:solidFill>
                  <a:srgbClr val="FFFFFF"/>
                </a:solidFill>
                <a:latin typeface="Verdana"/>
                <a:cs typeface="Verdana"/>
              </a:rPr>
              <a:t>PET-</a:t>
            </a:r>
            <a:r>
              <a:rPr sz="1650" spc="-6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r>
              <a:rPr sz="165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3.0T</a:t>
            </a:r>
            <a:r>
              <a:rPr sz="165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50">
                <a:solidFill>
                  <a:srgbClr val="FFFFFF"/>
                </a:solidFill>
                <a:latin typeface="Verdana"/>
                <a:cs typeface="Verdana"/>
              </a:rPr>
              <a:t>MRI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2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América</a:t>
            </a:r>
            <a:r>
              <a:rPr sz="165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">
                <a:solidFill>
                  <a:srgbClr val="FFFFFF"/>
                </a:solidFill>
                <a:latin typeface="Verdana"/>
                <a:cs typeface="Verdana"/>
              </a:rPr>
              <a:t>Latina.</a:t>
            </a:r>
            <a:endParaRPr sz="1650">
              <a:latin typeface="Verdana"/>
              <a:cs typeface="Verdana"/>
            </a:endParaRPr>
          </a:p>
          <a:p>
            <a:pPr marL="12700" marR="158750" indent="132715">
              <a:lnSpc>
                <a:spcPct val="114900"/>
              </a:lnSpc>
              <a:buChar char="•"/>
              <a:tabLst>
                <a:tab pos="145415" algn="l"/>
              </a:tabLst>
            </a:pPr>
            <a:r>
              <a:rPr sz="1650" spc="-65">
                <a:solidFill>
                  <a:srgbClr val="FFFFFF"/>
                </a:solidFill>
                <a:latin typeface="Verdana"/>
                <a:cs typeface="Verdana"/>
              </a:rPr>
              <a:t>Sócio-</a:t>
            </a:r>
            <a:r>
              <a:rPr sz="1650" spc="-90">
                <a:solidFill>
                  <a:srgbClr val="FFFFFF"/>
                </a:solidFill>
                <a:latin typeface="Verdana"/>
                <a:cs typeface="Verdana"/>
              </a:rPr>
              <a:t>fundador</a:t>
            </a:r>
            <a:r>
              <a:rPr sz="165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9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90">
                <a:solidFill>
                  <a:srgbClr val="FFFFFF"/>
                </a:solidFill>
                <a:latin typeface="Verdana"/>
                <a:cs typeface="Verdana"/>
              </a:rPr>
              <a:t>marcas</a:t>
            </a:r>
            <a:r>
              <a:rPr sz="165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60">
                <a:solidFill>
                  <a:srgbClr val="FFFFFF"/>
                </a:solidFill>
                <a:latin typeface="Verdana"/>
                <a:cs typeface="Verdana"/>
              </a:rPr>
              <a:t>referência </a:t>
            </a:r>
            <a:r>
              <a:rPr sz="1650" spc="-145">
                <a:solidFill>
                  <a:srgbClr val="FFFFFF"/>
                </a:solidFill>
                <a:latin typeface="Verdana"/>
                <a:cs typeface="Verdana"/>
              </a:rPr>
              <a:t>(CDPI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60">
                <a:solidFill>
                  <a:srgbClr val="FFFFFF"/>
                </a:solidFill>
                <a:latin typeface="Verdana"/>
                <a:cs typeface="Verdana"/>
              </a:rPr>
              <a:t>Multi-</a:t>
            </a:r>
            <a:r>
              <a:rPr sz="1650" spc="-45">
                <a:solidFill>
                  <a:srgbClr val="FFFFFF"/>
                </a:solidFill>
                <a:latin typeface="Verdana"/>
                <a:cs typeface="Verdana"/>
              </a:rPr>
              <a:t>Imagem).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4815" y="7139857"/>
            <a:ext cx="2717165" cy="1066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1950" b="1" spc="-25">
                <a:solidFill>
                  <a:srgbClr val="FFFFFF"/>
                </a:solidFill>
                <a:latin typeface="Tahoma"/>
                <a:cs typeface="Tahoma"/>
              </a:rPr>
              <a:t>Dr.</a:t>
            </a:r>
            <a:r>
              <a:rPr sz="1950" b="1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b="1" spc="-25">
                <a:solidFill>
                  <a:srgbClr val="FFFFFF"/>
                </a:solidFill>
                <a:latin typeface="Tahoma"/>
                <a:cs typeface="Tahoma"/>
              </a:rPr>
              <a:t>Alexandre</a:t>
            </a:r>
            <a:r>
              <a:rPr sz="1950" b="1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b="1" spc="-10">
                <a:solidFill>
                  <a:srgbClr val="FFFFFF"/>
                </a:solidFill>
                <a:latin typeface="Tahoma"/>
                <a:cs typeface="Tahoma"/>
              </a:rPr>
              <a:t>Valim </a:t>
            </a:r>
            <a:r>
              <a:rPr sz="1950" spc="-105">
                <a:solidFill>
                  <a:srgbClr val="FFFFFF"/>
                </a:solidFill>
                <a:latin typeface="Verdana"/>
                <a:cs typeface="Verdana"/>
              </a:rPr>
              <a:t>Diretor</a:t>
            </a:r>
            <a:r>
              <a:rPr sz="1950" spc="-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9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950" spc="-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75">
                <a:solidFill>
                  <a:srgbClr val="FFFFFF"/>
                </a:solidFill>
                <a:latin typeface="Verdana"/>
                <a:cs typeface="Verdana"/>
              </a:rPr>
              <a:t>Produção</a:t>
            </a:r>
            <a:r>
              <a:rPr sz="1950" spc="-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70">
                <a:solidFill>
                  <a:srgbClr val="FFFFFF"/>
                </a:solidFill>
                <a:latin typeface="Verdana"/>
                <a:cs typeface="Verdana"/>
              </a:rPr>
              <a:t>RDI </a:t>
            </a:r>
            <a:r>
              <a:rPr sz="1950" spc="-114">
                <a:solidFill>
                  <a:srgbClr val="FFFFFF"/>
                </a:solidFill>
                <a:latin typeface="Verdana"/>
                <a:cs typeface="Verdana"/>
              </a:rPr>
              <a:t>(América</a:t>
            </a:r>
            <a:r>
              <a:rPr sz="1950" spc="-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>
                <a:solidFill>
                  <a:srgbClr val="FFFFFF"/>
                </a:solidFill>
                <a:latin typeface="Verdana"/>
                <a:cs typeface="Verdana"/>
              </a:rPr>
              <a:t>Latina)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4815" y="8534034"/>
            <a:ext cx="4102735" cy="147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715">
              <a:lnSpc>
                <a:spcPct val="114900"/>
              </a:lnSpc>
              <a:spcBef>
                <a:spcPts val="100"/>
              </a:spcBef>
              <a:buChar char="•"/>
              <a:tabLst>
                <a:tab pos="145415" algn="l"/>
              </a:tabLst>
            </a:pPr>
            <a:r>
              <a:rPr sz="1650" spc="-100">
                <a:solidFill>
                  <a:srgbClr val="FFFFFF"/>
                </a:solidFill>
                <a:latin typeface="Verdana"/>
                <a:cs typeface="Verdana"/>
              </a:rPr>
              <a:t>Formado</a:t>
            </a:r>
            <a:r>
              <a:rPr sz="16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pela</a:t>
            </a:r>
            <a:r>
              <a:rPr sz="165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spc="-20">
                <a:solidFill>
                  <a:srgbClr val="FFFFFF"/>
                </a:solidFill>
                <a:latin typeface="Tahoma"/>
                <a:cs typeface="Tahoma"/>
              </a:rPr>
              <a:t>FMUSP</a:t>
            </a:r>
            <a:r>
              <a:rPr sz="1650" b="1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spc="-75">
                <a:solidFill>
                  <a:srgbClr val="FFFFFF"/>
                </a:solidFill>
                <a:latin typeface="Verdana"/>
                <a:cs typeface="Verdana"/>
              </a:rPr>
              <a:t>com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60">
                <a:solidFill>
                  <a:srgbClr val="FFFFFF"/>
                </a:solidFill>
                <a:latin typeface="Verdana"/>
                <a:cs typeface="Verdana"/>
              </a:rPr>
              <a:t>especialização </a:t>
            </a:r>
            <a:r>
              <a:rPr sz="1650" spc="-135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5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0">
                <a:solidFill>
                  <a:srgbClr val="FFFFFF"/>
                </a:solidFill>
                <a:latin typeface="Verdana"/>
                <a:cs typeface="Verdana"/>
              </a:rPr>
              <a:t>Radiologia</a:t>
            </a:r>
            <a:r>
              <a:rPr sz="165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60">
                <a:solidFill>
                  <a:srgbClr val="FFFFFF"/>
                </a:solidFill>
                <a:latin typeface="Verdana"/>
                <a:cs typeface="Verdana"/>
              </a:rPr>
              <a:t>Músculo-</a:t>
            </a:r>
            <a:r>
              <a:rPr sz="1650" spc="-10">
                <a:solidFill>
                  <a:srgbClr val="FFFFFF"/>
                </a:solidFill>
                <a:latin typeface="Verdana"/>
                <a:cs typeface="Verdana"/>
              </a:rPr>
              <a:t>Esquelética.</a:t>
            </a:r>
            <a:endParaRPr sz="1650">
              <a:latin typeface="Verdana"/>
              <a:cs typeface="Verdana"/>
            </a:endParaRPr>
          </a:p>
          <a:p>
            <a:pPr marL="145415" indent="-132715">
              <a:lnSpc>
                <a:spcPct val="100000"/>
              </a:lnSpc>
              <a:spcBef>
                <a:spcPts val="295"/>
              </a:spcBef>
              <a:buChar char="•"/>
              <a:tabLst>
                <a:tab pos="145415" algn="l"/>
              </a:tabLst>
            </a:pPr>
            <a:r>
              <a:rPr sz="1650" spc="-30">
                <a:solidFill>
                  <a:srgbClr val="FFFFFF"/>
                </a:solidFill>
                <a:latin typeface="Verdana"/>
                <a:cs typeface="Verdana"/>
              </a:rPr>
              <a:t>MBA</a:t>
            </a:r>
            <a:r>
              <a:rPr sz="165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35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5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75">
                <a:solidFill>
                  <a:srgbClr val="FFFFFF"/>
                </a:solidFill>
                <a:latin typeface="Verdana"/>
                <a:cs typeface="Verdana"/>
              </a:rPr>
              <a:t>Gestão</a:t>
            </a:r>
            <a:r>
              <a:rPr sz="165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pela</a:t>
            </a:r>
            <a:r>
              <a:rPr sz="165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spc="-20">
                <a:solidFill>
                  <a:srgbClr val="FFFFFF"/>
                </a:solidFill>
                <a:latin typeface="Tahoma"/>
                <a:cs typeface="Tahoma"/>
              </a:rPr>
              <a:t>FGV</a:t>
            </a:r>
            <a:r>
              <a:rPr sz="1650" spc="-2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650">
              <a:latin typeface="Verdana"/>
              <a:cs typeface="Verdana"/>
            </a:endParaRPr>
          </a:p>
          <a:p>
            <a:pPr marL="12700" marR="310515" indent="132715">
              <a:lnSpc>
                <a:spcPct val="114900"/>
              </a:lnSpc>
              <a:buChar char="•"/>
              <a:tabLst>
                <a:tab pos="145415" algn="l"/>
              </a:tabLst>
            </a:pPr>
            <a:r>
              <a:rPr sz="1650" spc="-65">
                <a:solidFill>
                  <a:srgbClr val="FFFFFF"/>
                </a:solidFill>
                <a:latin typeface="Verdana"/>
                <a:cs typeface="Verdana"/>
              </a:rPr>
              <a:t>Mais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9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465">
                <a:solidFill>
                  <a:srgbClr val="FFFFFF"/>
                </a:solidFill>
                <a:latin typeface="Verdana"/>
                <a:cs typeface="Verdana"/>
              </a:rPr>
              <a:t>11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90">
                <a:solidFill>
                  <a:srgbClr val="FFFFFF"/>
                </a:solidFill>
                <a:latin typeface="Verdana"/>
                <a:cs typeface="Verdana"/>
              </a:rPr>
              <a:t>anos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95">
                <a:solidFill>
                  <a:srgbClr val="FFFFFF"/>
                </a:solidFill>
                <a:latin typeface="Verdana"/>
                <a:cs typeface="Verdana"/>
              </a:rPr>
              <a:t>liderando</a:t>
            </a:r>
            <a:r>
              <a:rPr sz="165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">
                <a:solidFill>
                  <a:srgbClr val="FFFFFF"/>
                </a:solidFill>
                <a:latin typeface="Verdana"/>
                <a:cs typeface="Verdana"/>
              </a:rPr>
              <a:t>operações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médicas</a:t>
            </a:r>
            <a:r>
              <a:rPr sz="165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2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165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10">
                <a:solidFill>
                  <a:srgbClr val="FFFFFF"/>
                </a:solidFill>
                <a:latin typeface="Verdana"/>
                <a:cs typeface="Verdana"/>
              </a:rPr>
              <a:t>maior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95">
                <a:solidFill>
                  <a:srgbClr val="FFFFFF"/>
                </a:solidFill>
                <a:latin typeface="Verdana"/>
                <a:cs typeface="Verdana"/>
              </a:rPr>
              <a:t>rede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5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0">
                <a:solidFill>
                  <a:srgbClr val="FFFFFF"/>
                </a:solidFill>
                <a:latin typeface="Verdana"/>
                <a:cs typeface="Verdana"/>
              </a:rPr>
              <a:t>saúde</a:t>
            </a:r>
            <a:r>
              <a:rPr sz="165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55">
                <a:solidFill>
                  <a:srgbClr val="FFFFFF"/>
                </a:solidFill>
                <a:latin typeface="Verdana"/>
                <a:cs typeface="Verdana"/>
              </a:rPr>
              <a:t>país.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29686" y="7217760"/>
            <a:ext cx="2721610" cy="7194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950" b="1" spc="-25">
                <a:solidFill>
                  <a:srgbClr val="FFFFFF"/>
                </a:solidFill>
                <a:latin typeface="Tahoma"/>
                <a:cs typeface="Tahoma"/>
              </a:rPr>
              <a:t>Dr.</a:t>
            </a:r>
            <a:r>
              <a:rPr sz="1950" b="1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b="1" spc="-35">
                <a:solidFill>
                  <a:srgbClr val="FFFFFF"/>
                </a:solidFill>
                <a:latin typeface="Tahoma"/>
                <a:cs typeface="Tahoma"/>
              </a:rPr>
              <a:t>Leonardo</a:t>
            </a:r>
            <a:r>
              <a:rPr sz="1950" b="1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b="1" spc="-10">
                <a:solidFill>
                  <a:srgbClr val="FFFFFF"/>
                </a:solidFill>
                <a:latin typeface="Tahoma"/>
                <a:cs typeface="Tahoma"/>
              </a:rPr>
              <a:t>Vedolin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950" spc="-60">
                <a:solidFill>
                  <a:srgbClr val="FFFFFF"/>
                </a:solidFill>
                <a:latin typeface="Verdana"/>
                <a:cs typeface="Verdana"/>
              </a:rPr>
              <a:t>Vice-</a:t>
            </a:r>
            <a:r>
              <a:rPr sz="1950" spc="-75">
                <a:solidFill>
                  <a:srgbClr val="FFFFFF"/>
                </a:solidFill>
                <a:latin typeface="Verdana"/>
                <a:cs typeface="Verdana"/>
              </a:rPr>
              <a:t>Presidente</a:t>
            </a:r>
            <a:r>
              <a:rPr sz="195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>
                <a:solidFill>
                  <a:srgbClr val="FFFFFF"/>
                </a:solidFill>
                <a:latin typeface="Verdana"/>
                <a:cs typeface="Verdana"/>
              </a:rPr>
              <a:t>Médico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29686" y="8265142"/>
            <a:ext cx="3692525" cy="1759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165" marR="276860" indent="-165100">
              <a:lnSpc>
                <a:spcPct val="114900"/>
              </a:lnSpc>
              <a:spcBef>
                <a:spcPts val="100"/>
              </a:spcBef>
              <a:buChar char="•"/>
              <a:tabLst>
                <a:tab pos="178435" algn="l"/>
              </a:tabLst>
            </a:pPr>
            <a:r>
              <a:rPr sz="1650" spc="-95">
                <a:solidFill>
                  <a:srgbClr val="FFFFFF"/>
                </a:solidFill>
                <a:latin typeface="Verdana"/>
                <a:cs typeface="Verdana"/>
              </a:rPr>
              <a:t>Doutor</a:t>
            </a:r>
            <a:r>
              <a:rPr sz="165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35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70">
                <a:solidFill>
                  <a:srgbClr val="FFFFFF"/>
                </a:solidFill>
                <a:latin typeface="Verdana"/>
                <a:cs typeface="Verdana"/>
              </a:rPr>
              <a:t>Medicina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pela</a:t>
            </a:r>
            <a:r>
              <a:rPr sz="16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spc="-35">
                <a:solidFill>
                  <a:srgbClr val="FFFFFF"/>
                </a:solidFill>
                <a:latin typeface="Tahoma"/>
                <a:cs typeface="Tahoma"/>
              </a:rPr>
              <a:t>UFRGS</a:t>
            </a:r>
            <a:r>
              <a:rPr sz="1650" b="1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spc="-50">
                <a:solidFill>
                  <a:srgbClr val="FFFFFF"/>
                </a:solidFill>
                <a:latin typeface="Verdana"/>
                <a:cs typeface="Verdana"/>
              </a:rPr>
              <a:t>e 	</a:t>
            </a:r>
            <a:r>
              <a:rPr sz="1650" spc="-65">
                <a:solidFill>
                  <a:srgbClr val="FFFFFF"/>
                </a:solidFill>
                <a:latin typeface="Verdana"/>
                <a:cs typeface="Verdana"/>
              </a:rPr>
              <a:t>Mestre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pela</a:t>
            </a:r>
            <a:r>
              <a:rPr sz="16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spc="-10">
                <a:solidFill>
                  <a:srgbClr val="FFFFFF"/>
                </a:solidFill>
                <a:latin typeface="Tahoma"/>
                <a:cs typeface="Tahoma"/>
              </a:rPr>
              <a:t>UFRJ</a:t>
            </a:r>
            <a:r>
              <a:rPr sz="1650" spc="-1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1650">
              <a:latin typeface="Verdana"/>
              <a:cs typeface="Verdana"/>
            </a:endParaRPr>
          </a:p>
          <a:p>
            <a:pPr marL="12700" marR="5080" indent="132715">
              <a:lnSpc>
                <a:spcPct val="114900"/>
              </a:lnSpc>
              <a:buChar char="•"/>
              <a:tabLst>
                <a:tab pos="145415" algn="l"/>
              </a:tabLst>
            </a:pPr>
            <a:r>
              <a:rPr sz="1650" spc="-70">
                <a:solidFill>
                  <a:srgbClr val="FFFFFF"/>
                </a:solidFill>
                <a:latin typeface="Verdana"/>
                <a:cs typeface="Verdana"/>
              </a:rPr>
              <a:t>Especialista</a:t>
            </a:r>
            <a:r>
              <a:rPr sz="165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35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5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5">
                <a:solidFill>
                  <a:srgbClr val="FFFFFF"/>
                </a:solidFill>
                <a:latin typeface="Verdana"/>
                <a:cs typeface="Verdana"/>
              </a:rPr>
              <a:t>Neurorradiologia</a:t>
            </a:r>
            <a:r>
              <a:rPr sz="165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25">
                <a:solidFill>
                  <a:srgbClr val="FFFFFF"/>
                </a:solidFill>
                <a:latin typeface="Verdana"/>
                <a:cs typeface="Verdana"/>
              </a:rPr>
              <a:t>com </a:t>
            </a:r>
            <a:r>
              <a:rPr sz="1650" spc="-80">
                <a:solidFill>
                  <a:srgbClr val="FFFFFF"/>
                </a:solidFill>
                <a:latin typeface="Verdana"/>
                <a:cs typeface="Verdana"/>
              </a:rPr>
              <a:t>sólida</a:t>
            </a:r>
            <a:r>
              <a:rPr sz="165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0">
                <a:solidFill>
                  <a:srgbClr val="FFFFFF"/>
                </a:solidFill>
                <a:latin typeface="Verdana"/>
                <a:cs typeface="Verdana"/>
              </a:rPr>
              <a:t>atuação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35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5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10">
                <a:solidFill>
                  <a:srgbClr val="FFFFFF"/>
                </a:solidFill>
                <a:latin typeface="Verdana"/>
                <a:cs typeface="Verdana"/>
              </a:rPr>
              <a:t>governança</a:t>
            </a:r>
            <a:r>
              <a:rPr sz="165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25">
                <a:solidFill>
                  <a:srgbClr val="FFFFFF"/>
                </a:solidFill>
                <a:latin typeface="Verdana"/>
                <a:cs typeface="Verdana"/>
              </a:rPr>
              <a:t>médica.</a:t>
            </a:r>
            <a:endParaRPr sz="1650">
              <a:latin typeface="Verdana"/>
              <a:cs typeface="Verdana"/>
            </a:endParaRPr>
          </a:p>
          <a:p>
            <a:pPr marL="145415" indent="-132715">
              <a:lnSpc>
                <a:spcPct val="100000"/>
              </a:lnSpc>
              <a:spcBef>
                <a:spcPts val="295"/>
              </a:spcBef>
              <a:buChar char="•"/>
              <a:tabLst>
                <a:tab pos="145415" algn="l"/>
              </a:tabLst>
            </a:pP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Membro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titular</a:t>
            </a:r>
            <a:r>
              <a:rPr sz="165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0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sz="16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Colégio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">
                <a:solidFill>
                  <a:srgbClr val="FFFFFF"/>
                </a:solidFill>
                <a:latin typeface="Verdana"/>
                <a:cs typeface="Verdana"/>
              </a:rPr>
              <a:t>Brasileiro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650" spc="-9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5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0">
                <a:solidFill>
                  <a:srgbClr val="FFFFFF"/>
                </a:solidFill>
                <a:latin typeface="Verdana"/>
                <a:cs typeface="Verdana"/>
              </a:rPr>
              <a:t>Radiologia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">
                <a:solidFill>
                  <a:srgbClr val="FFFFFF"/>
                </a:solidFill>
                <a:latin typeface="Verdana"/>
                <a:cs typeface="Verdana"/>
              </a:rPr>
              <a:t>(CBR).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78455" y="7217760"/>
            <a:ext cx="3004185" cy="7194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950" b="1" spc="-25">
                <a:solidFill>
                  <a:srgbClr val="FFFFFF"/>
                </a:solidFill>
                <a:latin typeface="Tahoma"/>
                <a:cs typeface="Tahoma"/>
              </a:rPr>
              <a:t>Dr.</a:t>
            </a:r>
            <a:r>
              <a:rPr sz="1950" b="1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b="1" spc="-25">
                <a:solidFill>
                  <a:srgbClr val="FFFFFF"/>
                </a:solidFill>
                <a:latin typeface="Tahoma"/>
                <a:cs typeface="Tahoma"/>
              </a:rPr>
              <a:t>Giancarlo</a:t>
            </a:r>
            <a:r>
              <a:rPr sz="1950" b="1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50" b="1" spc="-35">
                <a:solidFill>
                  <a:srgbClr val="FFFFFF"/>
                </a:solidFill>
                <a:latin typeface="Tahoma"/>
                <a:cs typeface="Tahoma"/>
              </a:rPr>
              <a:t>Domingues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950" spc="-85">
                <a:solidFill>
                  <a:srgbClr val="FFFFFF"/>
                </a:solidFill>
                <a:latin typeface="Verdana"/>
                <a:cs typeface="Verdana"/>
              </a:rPr>
              <a:t>Gestor</a:t>
            </a:r>
            <a:r>
              <a:rPr sz="1950" spc="-2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50">
                <a:solidFill>
                  <a:srgbClr val="FFFFFF"/>
                </a:solidFill>
                <a:latin typeface="Verdana"/>
                <a:cs typeface="Verdana"/>
              </a:rPr>
              <a:t>Médico</a:t>
            </a:r>
            <a:r>
              <a:rPr sz="1950" spc="-2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>
                <a:solidFill>
                  <a:srgbClr val="FFFFFF"/>
                </a:solidFill>
                <a:latin typeface="Verdana"/>
                <a:cs typeface="Verdana"/>
              </a:rPr>
              <a:t>Lumiax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378455" y="8265142"/>
            <a:ext cx="3652520" cy="1759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715">
              <a:lnSpc>
                <a:spcPct val="114900"/>
              </a:lnSpc>
              <a:spcBef>
                <a:spcPts val="100"/>
              </a:spcBef>
              <a:buChar char="•"/>
              <a:tabLst>
                <a:tab pos="145415" algn="l"/>
              </a:tabLst>
            </a:pPr>
            <a:r>
              <a:rPr sz="1650" spc="-70">
                <a:solidFill>
                  <a:srgbClr val="FFFFFF"/>
                </a:solidFill>
                <a:latin typeface="Verdana"/>
                <a:cs typeface="Verdana"/>
              </a:rPr>
              <a:t>Especialista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35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70">
                <a:solidFill>
                  <a:srgbClr val="FFFFFF"/>
                </a:solidFill>
                <a:latin typeface="Verdana"/>
                <a:cs typeface="Verdana"/>
              </a:rPr>
              <a:t>RM</a:t>
            </a:r>
            <a:r>
              <a:rPr sz="16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">
                <a:solidFill>
                  <a:srgbClr val="FFFFFF"/>
                </a:solidFill>
                <a:latin typeface="Verdana"/>
                <a:cs typeface="Verdana"/>
              </a:rPr>
              <a:t>Músculo-</a:t>
            </a:r>
            <a:r>
              <a:rPr sz="1650" spc="-75">
                <a:solidFill>
                  <a:srgbClr val="FFFFFF"/>
                </a:solidFill>
                <a:latin typeface="Verdana"/>
                <a:cs typeface="Verdana"/>
              </a:rPr>
              <a:t>Esquelética</a:t>
            </a:r>
            <a:r>
              <a:rPr sz="165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5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Diagnóstico</a:t>
            </a:r>
            <a:r>
              <a:rPr sz="165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90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165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40">
                <a:solidFill>
                  <a:srgbClr val="FFFFFF"/>
                </a:solidFill>
                <a:latin typeface="Verdana"/>
                <a:cs typeface="Verdana"/>
              </a:rPr>
              <a:t>Imagem.</a:t>
            </a:r>
            <a:endParaRPr sz="1650">
              <a:latin typeface="Verdana"/>
              <a:cs typeface="Verdana"/>
            </a:endParaRPr>
          </a:p>
          <a:p>
            <a:pPr marL="12700" marR="184785" indent="132715">
              <a:lnSpc>
                <a:spcPct val="114900"/>
              </a:lnSpc>
              <a:buChar char="•"/>
              <a:tabLst>
                <a:tab pos="145415" algn="l"/>
              </a:tabLst>
            </a:pPr>
            <a:r>
              <a:rPr sz="1650" spc="-30">
                <a:solidFill>
                  <a:srgbClr val="FFFFFF"/>
                </a:solidFill>
                <a:latin typeface="Verdana"/>
                <a:cs typeface="Verdana"/>
              </a:rPr>
              <a:t>MBA</a:t>
            </a:r>
            <a:r>
              <a:rPr sz="1650" spc="-2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35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5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b="1" spc="-35">
                <a:solidFill>
                  <a:srgbClr val="FFFFFF"/>
                </a:solidFill>
                <a:latin typeface="Tahoma"/>
                <a:cs typeface="Tahoma"/>
              </a:rPr>
              <a:t>Health</a:t>
            </a:r>
            <a:r>
              <a:rPr sz="1650" b="1" spc="-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0">
                <a:solidFill>
                  <a:srgbClr val="FFFFFF"/>
                </a:solidFill>
                <a:latin typeface="Tahoma"/>
                <a:cs typeface="Tahoma"/>
              </a:rPr>
              <a:t>Tech</a:t>
            </a:r>
            <a:r>
              <a:rPr sz="1650" b="1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35">
                <a:solidFill>
                  <a:srgbClr val="FFFFFF"/>
                </a:solidFill>
                <a:latin typeface="Tahoma"/>
                <a:cs typeface="Tahoma"/>
              </a:rPr>
              <a:t>pela</a:t>
            </a:r>
            <a:r>
              <a:rPr sz="1650" b="1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20">
                <a:solidFill>
                  <a:srgbClr val="FFFFFF"/>
                </a:solidFill>
                <a:latin typeface="Tahoma"/>
                <a:cs typeface="Tahoma"/>
              </a:rPr>
              <a:t>FIAP</a:t>
            </a:r>
            <a:r>
              <a:rPr sz="1650" spc="-20">
                <a:solidFill>
                  <a:srgbClr val="FFFFFF"/>
                </a:solidFill>
                <a:latin typeface="Verdana"/>
                <a:cs typeface="Verdana"/>
              </a:rPr>
              <a:t>, </a:t>
            </a:r>
            <a:r>
              <a:rPr sz="1650" spc="-50">
                <a:solidFill>
                  <a:srgbClr val="FFFFFF"/>
                </a:solidFill>
                <a:latin typeface="Verdana"/>
                <a:cs typeface="Verdana"/>
              </a:rPr>
              <a:t>focado</a:t>
            </a:r>
            <a:r>
              <a:rPr sz="165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2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inovação</a:t>
            </a:r>
            <a:r>
              <a:rPr sz="165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95">
                <a:solidFill>
                  <a:srgbClr val="FFFFFF"/>
                </a:solidFill>
                <a:latin typeface="Verdana"/>
                <a:cs typeface="Verdana"/>
              </a:rPr>
              <a:t>digital</a:t>
            </a:r>
            <a:r>
              <a:rPr sz="165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35">
                <a:solidFill>
                  <a:srgbClr val="FFFFFF"/>
                </a:solidFill>
                <a:latin typeface="Verdana"/>
                <a:cs typeface="Verdana"/>
              </a:rPr>
              <a:t>em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70">
                <a:solidFill>
                  <a:srgbClr val="FFFFFF"/>
                </a:solidFill>
                <a:latin typeface="Verdana"/>
                <a:cs typeface="Verdana"/>
              </a:rPr>
              <a:t>saúde.</a:t>
            </a:r>
            <a:endParaRPr sz="1650">
              <a:latin typeface="Verdana"/>
              <a:cs typeface="Verdana"/>
            </a:endParaRPr>
          </a:p>
          <a:p>
            <a:pPr marL="145415" indent="-132715">
              <a:lnSpc>
                <a:spcPct val="100000"/>
              </a:lnSpc>
              <a:spcBef>
                <a:spcPts val="295"/>
              </a:spcBef>
              <a:buChar char="•"/>
              <a:tabLst>
                <a:tab pos="145415" algn="l"/>
              </a:tabLst>
            </a:pPr>
            <a:r>
              <a:rPr sz="1650" spc="-90">
                <a:solidFill>
                  <a:srgbClr val="FFFFFF"/>
                </a:solidFill>
                <a:latin typeface="Verdana"/>
                <a:cs typeface="Verdana"/>
              </a:rPr>
              <a:t>Liderança</a:t>
            </a:r>
            <a:r>
              <a:rPr sz="165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0">
                <a:solidFill>
                  <a:srgbClr val="FFFFFF"/>
                </a:solidFill>
                <a:latin typeface="Verdana"/>
                <a:cs typeface="Verdana"/>
              </a:rPr>
              <a:t>direta</a:t>
            </a:r>
            <a:r>
              <a:rPr sz="16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0">
                <a:solidFill>
                  <a:srgbClr val="FFFFFF"/>
                </a:solidFill>
                <a:latin typeface="Verdana"/>
                <a:cs typeface="Verdana"/>
              </a:rPr>
              <a:t>da</a:t>
            </a:r>
            <a:r>
              <a:rPr sz="165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0">
                <a:solidFill>
                  <a:srgbClr val="FFFFFF"/>
                </a:solidFill>
                <a:latin typeface="Verdana"/>
                <a:cs typeface="Verdana"/>
              </a:rPr>
              <a:t>operação</a:t>
            </a:r>
            <a:r>
              <a:rPr sz="165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5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650" spc="-95">
                <a:solidFill>
                  <a:srgbClr val="FFFFFF"/>
                </a:solidFill>
                <a:latin typeface="Verdana"/>
                <a:cs typeface="Verdana"/>
              </a:rPr>
              <a:t>qualidade</a:t>
            </a:r>
            <a:r>
              <a:rPr sz="165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85">
                <a:solidFill>
                  <a:srgbClr val="FFFFFF"/>
                </a:solidFill>
                <a:latin typeface="Verdana"/>
                <a:cs typeface="Verdana"/>
              </a:rPr>
              <a:t>médica</a:t>
            </a:r>
            <a:r>
              <a:rPr sz="165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10">
                <a:solidFill>
                  <a:srgbClr val="FFFFFF"/>
                </a:solidFill>
                <a:latin typeface="Verdana"/>
                <a:cs typeface="Verdana"/>
              </a:rPr>
              <a:t>Lumiax.</a:t>
            </a:r>
            <a:endParaRPr sz="1650">
              <a:latin typeface="Verdana"/>
              <a:cs typeface="Verdana"/>
            </a:endParaRPr>
          </a:p>
        </p:txBody>
      </p:sp>
      <p:pic>
        <p:nvPicPr>
          <p:cNvPr id="15" name="object 15" descr="Picture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6881" y="4268037"/>
            <a:ext cx="2663107" cy="2663164"/>
          </a:xfrm>
          <a:prstGeom prst="rect">
            <a:avLst/>
          </a:prstGeom>
        </p:spPr>
      </p:pic>
      <p:pic>
        <p:nvPicPr>
          <p:cNvPr id="16" name="object 16" descr="Imagem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89962" y="4254111"/>
            <a:ext cx="2659377" cy="2659517"/>
          </a:xfrm>
          <a:prstGeom prst="rect">
            <a:avLst/>
          </a:prstGeom>
        </p:spPr>
      </p:pic>
      <p:pic>
        <p:nvPicPr>
          <p:cNvPr id="17" name="object 17" descr="Picture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84029" y="4250865"/>
            <a:ext cx="2659455" cy="2659517"/>
          </a:xfrm>
          <a:prstGeom prst="rect">
            <a:avLst/>
          </a:prstGeom>
        </p:spPr>
      </p:pic>
      <p:pic>
        <p:nvPicPr>
          <p:cNvPr id="18" name="object 18" descr="Picture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33918" y="4254111"/>
            <a:ext cx="2659377" cy="26595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magnific_cinematic-healthcare-scen_296327890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7514" y="5259839"/>
            <a:ext cx="10706584" cy="60487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200" b="1" spc="-110">
                <a:latin typeface="Tahoma"/>
                <a:cs typeface="Tahoma"/>
              </a:rPr>
              <a:t>Cobertura</a:t>
            </a:r>
            <a:r>
              <a:rPr sz="9200" b="1" spc="-944">
                <a:latin typeface="Tahoma"/>
                <a:cs typeface="Tahoma"/>
              </a:rPr>
              <a:t> </a:t>
            </a:r>
            <a:r>
              <a:rPr sz="9200" b="1" spc="-10">
                <a:latin typeface="Tahoma"/>
                <a:cs typeface="Tahoma"/>
              </a:rPr>
              <a:t>completa</a:t>
            </a:r>
            <a:endParaRPr sz="9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9200" spc="-675"/>
              <a:t>para</a:t>
            </a:r>
            <a:r>
              <a:rPr sz="9200" spc="-1535"/>
              <a:t> </a:t>
            </a:r>
            <a:r>
              <a:rPr sz="9200" spc="-595"/>
              <a:t>sua</a:t>
            </a:r>
            <a:r>
              <a:rPr sz="9200" spc="-1535"/>
              <a:t> </a:t>
            </a:r>
            <a:r>
              <a:rPr sz="9200" spc="-450"/>
              <a:t>clínica</a:t>
            </a:r>
            <a:r>
              <a:rPr sz="9200" spc="-1535"/>
              <a:t> </a:t>
            </a:r>
            <a:r>
              <a:rPr sz="9200" spc="-635"/>
              <a:t>ou</a:t>
            </a:r>
            <a:r>
              <a:rPr sz="9200" spc="-1530"/>
              <a:t> </a:t>
            </a:r>
            <a:r>
              <a:rPr sz="9200" spc="-509"/>
              <a:t>hospital</a:t>
            </a:r>
            <a:endParaRPr sz="9200"/>
          </a:p>
        </p:txBody>
      </p:sp>
      <p:sp>
        <p:nvSpPr>
          <p:cNvPr id="4" name="object 4"/>
          <p:cNvSpPr/>
          <p:nvPr/>
        </p:nvSpPr>
        <p:spPr>
          <a:xfrm>
            <a:off x="5088850" y="1556706"/>
            <a:ext cx="13843000" cy="0"/>
          </a:xfrm>
          <a:custGeom>
            <a:avLst/>
            <a:gdLst/>
            <a:ahLst/>
            <a:cxnLst/>
            <a:rect l="l" t="t" r="r" b="b"/>
            <a:pathLst>
              <a:path w="13843000">
                <a:moveTo>
                  <a:pt x="0" y="0"/>
                </a:moveTo>
                <a:lnTo>
                  <a:pt x="13842510" y="0"/>
                </a:lnTo>
              </a:path>
            </a:pathLst>
          </a:custGeom>
          <a:ln w="20941">
            <a:solidFill>
              <a:srgbClr val="0D12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976896" y="1081716"/>
            <a:ext cx="3718560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950" spc="-10">
                <a:solidFill>
                  <a:srgbClr val="2B2B74"/>
                </a:solidFill>
                <a:latin typeface="Verdana"/>
                <a:cs typeface="Verdana"/>
              </a:rPr>
              <a:t>PROPOSTA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|</a:t>
            </a:r>
            <a:r>
              <a:rPr sz="950" spc="2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X</a:t>
            </a:r>
            <a:r>
              <a:rPr sz="950" spc="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2B2B74"/>
                </a:solidFill>
                <a:latin typeface="Verdana"/>
                <a:cs typeface="Verdana"/>
              </a:rPr>
              <a:t>B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2B2B74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6" name="object 6" descr="Imagem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6661" y="871324"/>
            <a:ext cx="2303594" cy="5822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88818" y="4825528"/>
            <a:ext cx="7178040" cy="629729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650" b="1" spc="-30">
                <a:solidFill>
                  <a:srgbClr val="2B2B74"/>
                </a:solidFill>
                <a:latin typeface="Tahoma"/>
                <a:cs typeface="Tahoma"/>
              </a:rPr>
              <a:t>Imagem:</a:t>
            </a:r>
            <a:endParaRPr sz="2650">
              <a:latin typeface="Tahoma"/>
              <a:cs typeface="Tahoma"/>
            </a:endParaRPr>
          </a:p>
          <a:p>
            <a:pPr marL="12700" marR="76200">
              <a:lnSpc>
                <a:spcPct val="116700"/>
              </a:lnSpc>
              <a:spcBef>
                <a:spcPts val="90"/>
              </a:spcBef>
            </a:pPr>
            <a:r>
              <a:rPr sz="1950" spc="-150">
                <a:solidFill>
                  <a:srgbClr val="2B2B74"/>
                </a:solidFill>
                <a:latin typeface="Verdana"/>
                <a:cs typeface="Verdana"/>
              </a:rPr>
              <a:t>Tomografia</a:t>
            </a:r>
            <a:r>
              <a:rPr sz="1950" spc="-33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40">
                <a:solidFill>
                  <a:srgbClr val="2B2B74"/>
                </a:solidFill>
                <a:latin typeface="Verdana"/>
                <a:cs typeface="Verdana"/>
              </a:rPr>
              <a:t>Computadorizada,</a:t>
            </a:r>
            <a:r>
              <a:rPr sz="1950" spc="-31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40">
                <a:solidFill>
                  <a:srgbClr val="2B2B74"/>
                </a:solidFill>
                <a:latin typeface="Verdana"/>
                <a:cs typeface="Verdana"/>
              </a:rPr>
              <a:t>Angio</a:t>
            </a:r>
            <a:r>
              <a:rPr sz="1950" spc="-26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95">
                <a:solidFill>
                  <a:srgbClr val="2B2B74"/>
                </a:solidFill>
                <a:latin typeface="Verdana"/>
                <a:cs typeface="Verdana"/>
              </a:rPr>
              <a:t>TC,</a:t>
            </a:r>
            <a:r>
              <a:rPr sz="1950" spc="-29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40">
                <a:solidFill>
                  <a:srgbClr val="2B2B74"/>
                </a:solidFill>
                <a:latin typeface="Verdana"/>
                <a:cs typeface="Verdana"/>
              </a:rPr>
              <a:t>Angio</a:t>
            </a:r>
            <a:r>
              <a:rPr sz="1950" spc="-26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85">
                <a:solidFill>
                  <a:srgbClr val="2B2B74"/>
                </a:solidFill>
                <a:latin typeface="Verdana"/>
                <a:cs typeface="Verdana"/>
              </a:rPr>
              <a:t>TC</a:t>
            </a:r>
            <a:r>
              <a:rPr sz="1950" spc="-27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25">
                <a:solidFill>
                  <a:srgbClr val="2B2B74"/>
                </a:solidFill>
                <a:latin typeface="Verdana"/>
                <a:cs typeface="Verdana"/>
              </a:rPr>
              <a:t>Coronariana, </a:t>
            </a:r>
            <a:r>
              <a:rPr sz="1950" spc="-120">
                <a:solidFill>
                  <a:srgbClr val="2B2B74"/>
                </a:solidFill>
                <a:latin typeface="Verdana"/>
                <a:cs typeface="Verdana"/>
              </a:rPr>
              <a:t>Colonografia,</a:t>
            </a:r>
            <a:r>
              <a:rPr sz="1950" spc="-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20">
                <a:solidFill>
                  <a:srgbClr val="2B2B74"/>
                </a:solidFill>
                <a:latin typeface="Verdana"/>
                <a:cs typeface="Verdana"/>
              </a:rPr>
              <a:t>Enterotomografia</a:t>
            </a:r>
            <a:r>
              <a:rPr sz="1950" spc="-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95">
                <a:solidFill>
                  <a:srgbClr val="2B2B74"/>
                </a:solidFill>
                <a:latin typeface="Verdana"/>
                <a:cs typeface="Verdana"/>
              </a:rPr>
              <a:t>de</a:t>
            </a:r>
            <a:r>
              <a:rPr sz="1950" spc="-28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25">
                <a:solidFill>
                  <a:srgbClr val="2B2B74"/>
                </a:solidFill>
                <a:latin typeface="Verdana"/>
                <a:cs typeface="Verdana"/>
              </a:rPr>
              <a:t>Abdômen</a:t>
            </a:r>
            <a:r>
              <a:rPr sz="1950" spc="-27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1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1950" spc="-28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0">
                <a:solidFill>
                  <a:srgbClr val="2B2B74"/>
                </a:solidFill>
                <a:latin typeface="Verdana"/>
                <a:cs typeface="Verdana"/>
              </a:rPr>
              <a:t>Odontológicos. </a:t>
            </a:r>
            <a:r>
              <a:rPr sz="1950" spc="-120">
                <a:solidFill>
                  <a:srgbClr val="2B2B74"/>
                </a:solidFill>
                <a:latin typeface="Verdana"/>
                <a:cs typeface="Verdana"/>
              </a:rPr>
              <a:t>Ressonância</a:t>
            </a:r>
            <a:r>
              <a:rPr sz="1950" spc="-3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20">
                <a:solidFill>
                  <a:srgbClr val="2B2B74"/>
                </a:solidFill>
                <a:latin typeface="Verdana"/>
                <a:cs typeface="Verdana"/>
              </a:rPr>
              <a:t>Magnética,</a:t>
            </a:r>
            <a:r>
              <a:rPr sz="1950" spc="-32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30">
                <a:solidFill>
                  <a:srgbClr val="2B2B74"/>
                </a:solidFill>
                <a:latin typeface="Verdana"/>
                <a:cs typeface="Verdana"/>
              </a:rPr>
              <a:t>Angio</a:t>
            </a:r>
            <a:r>
              <a:rPr sz="1950" spc="-254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95">
                <a:solidFill>
                  <a:srgbClr val="2B2B74"/>
                </a:solidFill>
                <a:latin typeface="Verdana"/>
                <a:cs typeface="Verdana"/>
              </a:rPr>
              <a:t>RM,</a:t>
            </a:r>
            <a:r>
              <a:rPr sz="1950" spc="-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05">
                <a:solidFill>
                  <a:srgbClr val="2B2B74"/>
                </a:solidFill>
                <a:latin typeface="Verdana"/>
                <a:cs typeface="Verdana"/>
              </a:rPr>
              <a:t>Ressonância</a:t>
            </a:r>
            <a:r>
              <a:rPr sz="1950" spc="-27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10">
                <a:solidFill>
                  <a:srgbClr val="2B2B74"/>
                </a:solidFill>
                <a:latin typeface="Verdana"/>
                <a:cs typeface="Verdana"/>
              </a:rPr>
              <a:t>Cardíaca,</a:t>
            </a:r>
            <a:r>
              <a:rPr sz="1950" spc="-254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80">
                <a:solidFill>
                  <a:srgbClr val="2B2B74"/>
                </a:solidFill>
                <a:latin typeface="Verdana"/>
                <a:cs typeface="Verdana"/>
              </a:rPr>
              <a:t>RM</a:t>
            </a:r>
            <a:r>
              <a:rPr sz="1950" spc="-27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25">
                <a:solidFill>
                  <a:srgbClr val="2B2B74"/>
                </a:solidFill>
                <a:latin typeface="Verdana"/>
                <a:cs typeface="Verdana"/>
              </a:rPr>
              <a:t>de </a:t>
            </a:r>
            <a:r>
              <a:rPr sz="1950" spc="-125">
                <a:solidFill>
                  <a:srgbClr val="2B2B74"/>
                </a:solidFill>
                <a:latin typeface="Verdana"/>
                <a:cs typeface="Verdana"/>
              </a:rPr>
              <a:t>Mama,</a:t>
            </a:r>
            <a:r>
              <a:rPr sz="1950" spc="-30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10">
                <a:solidFill>
                  <a:srgbClr val="2B2B74"/>
                </a:solidFill>
                <a:latin typeface="Verdana"/>
                <a:cs typeface="Verdana"/>
              </a:rPr>
              <a:t>Enteroressonância</a:t>
            </a:r>
            <a:r>
              <a:rPr sz="1950" spc="-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95">
                <a:solidFill>
                  <a:srgbClr val="2B2B74"/>
                </a:solidFill>
                <a:latin typeface="Verdana"/>
                <a:cs typeface="Verdana"/>
              </a:rPr>
              <a:t>de</a:t>
            </a:r>
            <a:r>
              <a:rPr sz="1950" spc="-29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25">
                <a:solidFill>
                  <a:srgbClr val="2B2B74"/>
                </a:solidFill>
                <a:latin typeface="Verdana"/>
                <a:cs typeface="Verdana"/>
              </a:rPr>
              <a:t>Abdômen,</a:t>
            </a:r>
            <a:r>
              <a:rPr sz="1950" spc="-29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85">
                <a:solidFill>
                  <a:srgbClr val="2B2B74"/>
                </a:solidFill>
                <a:latin typeface="Verdana"/>
                <a:cs typeface="Verdana"/>
              </a:rPr>
              <a:t>TC</a:t>
            </a:r>
            <a:r>
              <a:rPr sz="1950" spc="-29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1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1950" spc="-30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80">
                <a:solidFill>
                  <a:srgbClr val="2B2B74"/>
                </a:solidFill>
                <a:latin typeface="Verdana"/>
                <a:cs typeface="Verdana"/>
              </a:rPr>
              <a:t>RM</a:t>
            </a:r>
            <a:r>
              <a:rPr sz="1950" spc="-29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0">
                <a:solidFill>
                  <a:srgbClr val="2B2B74"/>
                </a:solidFill>
                <a:latin typeface="Verdana"/>
                <a:cs typeface="Verdana"/>
              </a:rPr>
              <a:t>Desfiladeiro </a:t>
            </a:r>
            <a:r>
              <a:rPr sz="1950" spc="-90">
                <a:solidFill>
                  <a:srgbClr val="2B2B74"/>
                </a:solidFill>
                <a:latin typeface="Verdana"/>
                <a:cs typeface="Verdana"/>
              </a:rPr>
              <a:t>Torácico</a:t>
            </a:r>
            <a:r>
              <a:rPr sz="1950" spc="-254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40">
                <a:solidFill>
                  <a:srgbClr val="2B2B74"/>
                </a:solidFill>
                <a:latin typeface="Verdana"/>
                <a:cs typeface="Verdana"/>
              </a:rPr>
              <a:t>(SDT).</a:t>
            </a:r>
            <a:endParaRPr sz="1950">
              <a:latin typeface="Verdana"/>
              <a:cs typeface="Verdana"/>
            </a:endParaRPr>
          </a:p>
          <a:p>
            <a:pPr marL="12700" marR="306070">
              <a:lnSpc>
                <a:spcPct val="116700"/>
              </a:lnSpc>
            </a:pPr>
            <a:r>
              <a:rPr sz="1950" spc="-125">
                <a:solidFill>
                  <a:srgbClr val="2B2B74"/>
                </a:solidFill>
                <a:latin typeface="Verdana"/>
                <a:cs typeface="Verdana"/>
              </a:rPr>
              <a:t>Raio-</a:t>
            </a:r>
            <a:r>
              <a:rPr sz="1950" spc="-135">
                <a:solidFill>
                  <a:srgbClr val="2B2B74"/>
                </a:solidFill>
                <a:latin typeface="Verdana"/>
                <a:cs typeface="Verdana"/>
              </a:rPr>
              <a:t>X,</a:t>
            </a:r>
            <a:r>
              <a:rPr sz="1950" spc="-33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40">
                <a:solidFill>
                  <a:srgbClr val="2B2B74"/>
                </a:solidFill>
                <a:latin typeface="Verdana"/>
                <a:cs typeface="Verdana"/>
              </a:rPr>
              <a:t>RX</a:t>
            </a:r>
            <a:r>
              <a:rPr sz="1950" spc="-28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80">
                <a:solidFill>
                  <a:srgbClr val="2B2B74"/>
                </a:solidFill>
                <a:latin typeface="Verdana"/>
                <a:cs typeface="Verdana"/>
              </a:rPr>
              <a:t>OIT,</a:t>
            </a:r>
            <a:r>
              <a:rPr sz="1950" spc="-29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40">
                <a:solidFill>
                  <a:srgbClr val="2B2B74"/>
                </a:solidFill>
                <a:latin typeface="Verdana"/>
                <a:cs typeface="Verdana"/>
              </a:rPr>
              <a:t>RX</a:t>
            </a:r>
            <a:r>
              <a:rPr sz="1950" spc="-29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95">
                <a:solidFill>
                  <a:srgbClr val="2B2B74"/>
                </a:solidFill>
                <a:latin typeface="Verdana"/>
                <a:cs typeface="Verdana"/>
              </a:rPr>
              <a:t>com</a:t>
            </a:r>
            <a:r>
              <a:rPr sz="1950" spc="-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05">
                <a:solidFill>
                  <a:srgbClr val="2B2B74"/>
                </a:solidFill>
                <a:latin typeface="Verdana"/>
                <a:cs typeface="Verdana"/>
              </a:rPr>
              <a:t>Contraste,</a:t>
            </a:r>
            <a:r>
              <a:rPr sz="1950" spc="-30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40">
                <a:solidFill>
                  <a:srgbClr val="2B2B74"/>
                </a:solidFill>
                <a:latin typeface="Verdana"/>
                <a:cs typeface="Verdana"/>
              </a:rPr>
              <a:t>RX</a:t>
            </a:r>
            <a:r>
              <a:rPr sz="1950" spc="-29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10">
                <a:solidFill>
                  <a:srgbClr val="2B2B74"/>
                </a:solidFill>
                <a:latin typeface="Verdana"/>
                <a:cs typeface="Verdana"/>
              </a:rPr>
              <a:t>EED,</a:t>
            </a:r>
            <a:r>
              <a:rPr sz="1950" spc="-30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40">
                <a:solidFill>
                  <a:srgbClr val="2B2B74"/>
                </a:solidFill>
                <a:latin typeface="Verdana"/>
                <a:cs typeface="Verdana"/>
              </a:rPr>
              <a:t>RX</a:t>
            </a:r>
            <a:r>
              <a:rPr sz="1950" spc="-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10">
                <a:solidFill>
                  <a:srgbClr val="2B2B74"/>
                </a:solidFill>
                <a:latin typeface="Verdana"/>
                <a:cs typeface="Verdana"/>
              </a:rPr>
              <a:t>Escanometria</a:t>
            </a:r>
            <a:r>
              <a:rPr sz="1950" spc="-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50">
                <a:solidFill>
                  <a:srgbClr val="2B2B74"/>
                </a:solidFill>
                <a:latin typeface="Verdana"/>
                <a:cs typeface="Verdana"/>
              </a:rPr>
              <a:t>e </a:t>
            </a:r>
            <a:r>
              <a:rPr sz="1950" spc="-30">
                <a:solidFill>
                  <a:srgbClr val="2B2B74"/>
                </a:solidFill>
                <a:latin typeface="Verdana"/>
                <a:cs typeface="Verdana"/>
              </a:rPr>
              <a:t>Odontológico.</a:t>
            </a:r>
            <a:endParaRPr sz="1950">
              <a:latin typeface="Verdana"/>
              <a:cs typeface="Verdana"/>
            </a:endParaRPr>
          </a:p>
          <a:p>
            <a:pPr marL="12700" marR="3380740">
              <a:lnSpc>
                <a:spcPct val="116700"/>
              </a:lnSpc>
            </a:pPr>
            <a:r>
              <a:rPr sz="1950" spc="-140">
                <a:solidFill>
                  <a:srgbClr val="2B2B74"/>
                </a:solidFill>
                <a:latin typeface="Verdana"/>
                <a:cs typeface="Verdana"/>
              </a:rPr>
              <a:t>Mamografia,</a:t>
            </a:r>
            <a:r>
              <a:rPr sz="1950" spc="-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35">
                <a:solidFill>
                  <a:srgbClr val="2B2B74"/>
                </a:solidFill>
                <a:latin typeface="Verdana"/>
                <a:cs typeface="Verdana"/>
              </a:rPr>
              <a:t>Densitometria</a:t>
            </a:r>
            <a:r>
              <a:rPr sz="1950" spc="-30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75">
                <a:solidFill>
                  <a:srgbClr val="2B2B74"/>
                </a:solidFill>
                <a:latin typeface="Verdana"/>
                <a:cs typeface="Verdana"/>
              </a:rPr>
              <a:t>Óssea. </a:t>
            </a:r>
            <a:r>
              <a:rPr sz="1950" spc="-105">
                <a:solidFill>
                  <a:srgbClr val="2B2B74"/>
                </a:solidFill>
                <a:latin typeface="Verdana"/>
                <a:cs typeface="Verdana"/>
              </a:rPr>
              <a:t>Medicina</a:t>
            </a:r>
            <a:r>
              <a:rPr sz="1950" spc="-30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0">
                <a:solidFill>
                  <a:srgbClr val="2B2B74"/>
                </a:solidFill>
                <a:latin typeface="Verdana"/>
                <a:cs typeface="Verdana"/>
              </a:rPr>
              <a:t>Nuclear.</a:t>
            </a:r>
            <a:endParaRPr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950">
              <a:latin typeface="Verdana"/>
              <a:cs typeface="Verdana"/>
            </a:endParaRPr>
          </a:p>
          <a:p>
            <a:pPr marL="12700" marR="949325">
              <a:lnSpc>
                <a:spcPct val="114999"/>
              </a:lnSpc>
            </a:pPr>
            <a:r>
              <a:rPr sz="2650" b="1" spc="-30">
                <a:solidFill>
                  <a:srgbClr val="2B2B74"/>
                </a:solidFill>
                <a:latin typeface="Tahoma"/>
                <a:cs typeface="Tahoma"/>
              </a:rPr>
              <a:t>Métodos</a:t>
            </a:r>
            <a:r>
              <a:rPr sz="2650" b="1" spc="-32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2650" b="1" spc="-25">
                <a:solidFill>
                  <a:srgbClr val="2B2B74"/>
                </a:solidFill>
                <a:latin typeface="Tahoma"/>
                <a:cs typeface="Tahoma"/>
              </a:rPr>
              <a:t>Gráficos</a:t>
            </a:r>
            <a:r>
              <a:rPr sz="1950" b="1" spc="-25">
                <a:solidFill>
                  <a:srgbClr val="2B2B74"/>
                </a:solidFill>
                <a:latin typeface="Tahoma"/>
                <a:cs typeface="Tahoma"/>
              </a:rPr>
              <a:t>:</a:t>
            </a:r>
            <a:r>
              <a:rPr sz="1950" b="1" spc="-225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1950" spc="-60">
                <a:solidFill>
                  <a:srgbClr val="2B2B74"/>
                </a:solidFill>
                <a:latin typeface="Verdana"/>
                <a:cs typeface="Verdana"/>
              </a:rPr>
              <a:t>ECG,</a:t>
            </a:r>
            <a:r>
              <a:rPr sz="1950" spc="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95">
                <a:solidFill>
                  <a:srgbClr val="2B2B74"/>
                </a:solidFill>
                <a:latin typeface="Verdana"/>
                <a:cs typeface="Verdana"/>
              </a:rPr>
              <a:t>M.A.P.A.,</a:t>
            </a:r>
            <a:r>
              <a:rPr sz="1950" spc="-3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10">
                <a:solidFill>
                  <a:srgbClr val="2B2B74"/>
                </a:solidFill>
                <a:latin typeface="Verdana"/>
                <a:cs typeface="Verdana"/>
              </a:rPr>
              <a:t>Holter,</a:t>
            </a:r>
            <a:r>
              <a:rPr sz="1950" spc="-30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00">
                <a:solidFill>
                  <a:srgbClr val="2B2B74"/>
                </a:solidFill>
                <a:latin typeface="Verdana"/>
                <a:cs typeface="Verdana"/>
              </a:rPr>
              <a:t>EEG</a:t>
            </a:r>
            <a:r>
              <a:rPr sz="1950" spc="-32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50">
                <a:solidFill>
                  <a:srgbClr val="2B2B74"/>
                </a:solidFill>
                <a:latin typeface="Verdana"/>
                <a:cs typeface="Verdana"/>
              </a:rPr>
              <a:t>e Espirometria.</a:t>
            </a:r>
            <a:endParaRPr sz="1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950">
              <a:latin typeface="Verdana"/>
              <a:cs typeface="Verdana"/>
            </a:endParaRPr>
          </a:p>
          <a:p>
            <a:pPr marL="12700" marR="5080">
              <a:lnSpc>
                <a:spcPct val="114999"/>
              </a:lnSpc>
            </a:pPr>
            <a:r>
              <a:rPr sz="2650" b="1" spc="-45">
                <a:solidFill>
                  <a:srgbClr val="2B2B74"/>
                </a:solidFill>
                <a:latin typeface="Tahoma"/>
                <a:cs typeface="Tahoma"/>
              </a:rPr>
              <a:t>Especialidades:</a:t>
            </a:r>
            <a:r>
              <a:rPr sz="2650" b="1" spc="-250">
                <a:solidFill>
                  <a:srgbClr val="2B2B74"/>
                </a:solidFill>
                <a:latin typeface="Tahoma"/>
                <a:cs typeface="Tahoma"/>
              </a:rPr>
              <a:t> </a:t>
            </a:r>
            <a:r>
              <a:rPr sz="1950" spc="-95">
                <a:solidFill>
                  <a:srgbClr val="2B2B74"/>
                </a:solidFill>
                <a:latin typeface="Verdana"/>
                <a:cs typeface="Verdana"/>
              </a:rPr>
              <a:t>Medicina</a:t>
            </a:r>
            <a:r>
              <a:rPr sz="1950" spc="-2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60">
                <a:solidFill>
                  <a:srgbClr val="2B2B74"/>
                </a:solidFill>
                <a:latin typeface="Verdana"/>
                <a:cs typeface="Verdana"/>
              </a:rPr>
              <a:t>Interna,</a:t>
            </a:r>
            <a:r>
              <a:rPr sz="1950" spc="-27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35">
                <a:solidFill>
                  <a:srgbClr val="2B2B74"/>
                </a:solidFill>
                <a:latin typeface="Verdana"/>
                <a:cs typeface="Verdana"/>
              </a:rPr>
              <a:t>Neurologia,</a:t>
            </a:r>
            <a:r>
              <a:rPr sz="1950" spc="-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05">
                <a:solidFill>
                  <a:srgbClr val="2B2B74"/>
                </a:solidFill>
                <a:latin typeface="Verdana"/>
                <a:cs typeface="Verdana"/>
              </a:rPr>
              <a:t>Cardiologia, </a:t>
            </a:r>
            <a:r>
              <a:rPr sz="1950" spc="-95">
                <a:solidFill>
                  <a:srgbClr val="2B2B74"/>
                </a:solidFill>
                <a:latin typeface="Verdana"/>
                <a:cs typeface="Verdana"/>
              </a:rPr>
              <a:t>Musculoesquelético,</a:t>
            </a:r>
            <a:r>
              <a:rPr sz="1950" spc="-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35">
                <a:solidFill>
                  <a:srgbClr val="2B2B74"/>
                </a:solidFill>
                <a:latin typeface="Verdana"/>
                <a:cs typeface="Verdana"/>
              </a:rPr>
              <a:t>Pneumologia</a:t>
            </a:r>
            <a:r>
              <a:rPr sz="1950" spc="-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1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1950" spc="-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1950" spc="-10">
                <a:solidFill>
                  <a:srgbClr val="2B2B74"/>
                </a:solidFill>
                <a:latin typeface="Verdana"/>
                <a:cs typeface="Verdana"/>
              </a:rPr>
              <a:t>Mastologia.</a:t>
            </a:r>
            <a:endParaRPr sz="1950">
              <a:latin typeface="Verdana"/>
              <a:cs typeface="Verdana"/>
            </a:endParaRPr>
          </a:p>
        </p:txBody>
      </p:sp>
      <p:pic>
        <p:nvPicPr>
          <p:cNvPr id="8" name="object 8" descr="Imagem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670" y="9162830"/>
            <a:ext cx="650713" cy="466090"/>
          </a:xfrm>
          <a:prstGeom prst="rect">
            <a:avLst/>
          </a:prstGeom>
        </p:spPr>
      </p:pic>
      <p:pic>
        <p:nvPicPr>
          <p:cNvPr id="9" name="object 9" descr="Imagem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7666" y="10204139"/>
            <a:ext cx="410898" cy="466090"/>
          </a:xfrm>
          <a:prstGeom prst="rect">
            <a:avLst/>
          </a:prstGeom>
        </p:spPr>
      </p:pic>
      <p:pic>
        <p:nvPicPr>
          <p:cNvPr id="10" name="object 10" descr="Imagem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0810" y="5032014"/>
            <a:ext cx="581291" cy="4843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A687CD-F83F-AF26-1C25-9B7BF251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CD007C6-5329-5DDD-0B60-F4FD57396C46}"/>
              </a:ext>
            </a:extLst>
          </p:cNvPr>
          <p:cNvSpPr/>
          <p:nvPr/>
        </p:nvSpPr>
        <p:spPr>
          <a:xfrm>
            <a:off x="5088850" y="1556706"/>
            <a:ext cx="13843000" cy="0"/>
          </a:xfrm>
          <a:custGeom>
            <a:avLst/>
            <a:gdLst/>
            <a:ahLst/>
            <a:cxnLst/>
            <a:rect l="l" t="t" r="r" b="b"/>
            <a:pathLst>
              <a:path w="13843000">
                <a:moveTo>
                  <a:pt x="0" y="0"/>
                </a:moveTo>
                <a:lnTo>
                  <a:pt x="13842510" y="0"/>
                </a:lnTo>
              </a:path>
            </a:pathLst>
          </a:custGeom>
          <a:ln w="20941">
            <a:solidFill>
              <a:srgbClr val="0D12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EF5B7C3-B33E-0AAD-2479-81E6849A5BCB}"/>
              </a:ext>
            </a:extLst>
          </p:cNvPr>
          <p:cNvSpPr txBox="1"/>
          <p:nvPr/>
        </p:nvSpPr>
        <p:spPr>
          <a:xfrm>
            <a:off x="14976896" y="1081716"/>
            <a:ext cx="3718560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950" spc="-10">
                <a:solidFill>
                  <a:srgbClr val="2B2B74"/>
                </a:solidFill>
                <a:latin typeface="Verdana"/>
                <a:cs typeface="Verdana"/>
              </a:rPr>
              <a:t>PROPOSTA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|</a:t>
            </a:r>
            <a:r>
              <a:rPr sz="950" spc="2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X</a:t>
            </a:r>
            <a:r>
              <a:rPr sz="950" spc="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2B2B74"/>
                </a:solidFill>
                <a:latin typeface="Verdana"/>
                <a:cs typeface="Verdana"/>
              </a:rPr>
              <a:t>B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2B2B74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6" name="object 6" descr="Imagem">
            <a:extLst>
              <a:ext uri="{FF2B5EF4-FFF2-40B4-BE49-F238E27FC236}">
                <a16:creationId xmlns:a16="http://schemas.microsoft.com/office/drawing/2014/main" id="{FD4C16F1-223F-2716-E81C-C19C85EC9C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661" y="871324"/>
            <a:ext cx="2303594" cy="582244"/>
          </a:xfrm>
          <a:prstGeom prst="rect">
            <a:avLst/>
          </a:prstGeom>
        </p:spPr>
      </p:pic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FD46491-551E-FE3E-16E9-58314811C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770767"/>
              </p:ext>
            </p:extLst>
          </p:nvPr>
        </p:nvGraphicFramePr>
        <p:xfrm>
          <a:off x="1060450" y="2206949"/>
          <a:ext cx="18211799" cy="7453077"/>
        </p:xfrm>
        <a:graphic>
          <a:graphicData uri="http://schemas.openxmlformats.org/drawingml/2006/table">
            <a:tbl>
              <a:tblPr/>
              <a:tblGrid>
                <a:gridCol w="5783046">
                  <a:extLst>
                    <a:ext uri="{9D8B030D-6E8A-4147-A177-3AD203B41FA5}">
                      <a16:colId xmlns:a16="http://schemas.microsoft.com/office/drawing/2014/main" val="3690761721"/>
                    </a:ext>
                  </a:extLst>
                </a:gridCol>
                <a:gridCol w="4089667">
                  <a:extLst>
                    <a:ext uri="{9D8B030D-6E8A-4147-A177-3AD203B41FA5}">
                      <a16:colId xmlns:a16="http://schemas.microsoft.com/office/drawing/2014/main" val="2151252635"/>
                    </a:ext>
                  </a:extLst>
                </a:gridCol>
                <a:gridCol w="4185518">
                  <a:extLst>
                    <a:ext uri="{9D8B030D-6E8A-4147-A177-3AD203B41FA5}">
                      <a16:colId xmlns:a16="http://schemas.microsoft.com/office/drawing/2014/main" val="2078877527"/>
                    </a:ext>
                  </a:extLst>
                </a:gridCol>
                <a:gridCol w="4153568">
                  <a:extLst>
                    <a:ext uri="{9D8B030D-6E8A-4147-A177-3AD203B41FA5}">
                      <a16:colId xmlns:a16="http://schemas.microsoft.com/office/drawing/2014/main" val="1412336992"/>
                    </a:ext>
                  </a:extLst>
                </a:gridCol>
              </a:tblGrid>
              <a:tr h="820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Procedimento </a:t>
                      </a:r>
                    </a:p>
                  </a:txBody>
                  <a:tcPr marL="4710" marR="4710" marT="47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Valor Rotina</a:t>
                      </a:r>
                      <a:br>
                        <a:rPr lang="pt-BR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pt-BR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7h às 19h       dias úteis</a:t>
                      </a:r>
                    </a:p>
                  </a:txBody>
                  <a:tcPr marL="4710" marR="4710" marT="47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Valor Urgência </a:t>
                      </a:r>
                      <a:br>
                        <a:rPr lang="pt-BR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pt-BR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 7h às 19h      dias úteis</a:t>
                      </a:r>
                    </a:p>
                  </a:txBody>
                  <a:tcPr marL="4710" marR="4710" marT="47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Valor Urgência Plantão</a:t>
                      </a:r>
                      <a:br>
                        <a:rPr lang="pt-BR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pt-BR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19h às 7h, Finais de Semana e Feriados</a:t>
                      </a:r>
                    </a:p>
                  </a:txBody>
                  <a:tcPr marL="4710" marR="4710" marT="47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329950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Tomografia  (Geral)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#Tomografia Normal#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#Tomografia Urgente#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#Tomografia Plantao#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50147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Angio Tomografia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#Angiotomografia Normal#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#Angiotomografia Urgente#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#Angiotomografia Plantao#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553998"/>
                  </a:ext>
                </a:extLst>
              </a:tr>
              <a:tr h="2855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Angio Tomografia Coronariana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#Angiotomografia Coronariana Normal#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#Angiotomografia Coronariana Urgente#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Não  se Aplica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637329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Ressonância Magnética  (Geral)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#Ressonância - Normal#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#Ressonância - Urgente#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#Ressonância - Plantao#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360036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Angio Ressonância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#Angioressonancia Normal#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#Angioressonancia Urgente#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#Angioressonancia Plantao#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331194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Laudos de Protocolo AVC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Não se aplica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R$ 61,10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R$ 149,80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542769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Raio X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#Raio-x Normal#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#Raio-X Urgente#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#Raio-x </a:t>
                      </a:r>
                      <a:r>
                        <a:rPr lang="pt-BR" sz="20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Plantao</a:t>
                      </a: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378992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Raio X (Padrão OIT)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#Raio-x OIT#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Não se aplica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562153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Raio X Com Constraste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#Raio-X Contrastado#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Não se aplica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058233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Raio-X Escanometria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#Raio-X </a:t>
                      </a:r>
                      <a:r>
                        <a:rPr lang="pt-BR" sz="20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Escanometria</a:t>
                      </a: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Não se aplica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38161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Raio X EED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#Raio-X EED#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Não se aplica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137872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Mamografia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#Mamografia#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Não se aplica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104307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D.O.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#Densitometria Óssea# 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Não se aplica</a:t>
                      </a:r>
                    </a:p>
                  </a:txBody>
                  <a:tcPr marL="4710" marR="4710" marT="471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471412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10" marR="4710" marT="471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10" marR="4710" marT="471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10" marR="4710" marT="471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10" marR="4710" marT="471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593650"/>
                  </a:ext>
                </a:extLst>
              </a:tr>
              <a:tr h="3328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10" marR="4710" marT="47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10" marR="4710" marT="47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10" marR="4710" marT="47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710" marR="4710" marT="47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772766"/>
                  </a:ext>
                </a:extLst>
              </a:tr>
              <a:tr h="332812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Exames de rotina serão laudados em até 48 horas úteis. Urgências em até 4 horas.</a:t>
                      </a:r>
                    </a:p>
                  </a:txBody>
                  <a:tcPr marL="4710" marR="4710" marT="471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365634"/>
                  </a:ext>
                </a:extLst>
              </a:tr>
              <a:tr h="332812">
                <a:tc grid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Urgências de Raio X, Tomografias e Ressonância Magnética são atendidos na urgência nas 24h. </a:t>
                      </a:r>
                    </a:p>
                  </a:txBody>
                  <a:tcPr marL="4710" marR="4710" marT="471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527799"/>
                  </a:ext>
                </a:extLst>
              </a:tr>
              <a:tr h="332812">
                <a:tc grid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Laudos de Protocolo AVC prazo até 1h. Laudos de Plantão de RM prazo até 4h. Sempre importante sinalização.</a:t>
                      </a:r>
                    </a:p>
                  </a:txBody>
                  <a:tcPr marL="4710" marR="4710" marT="471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938160"/>
                  </a:ext>
                </a:extLst>
              </a:tr>
              <a:tr h="332812">
                <a:tc grid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Laudos de Plantão possuem valores especiais conforme indicado, entre 19h e 7h, finais de semana e Feriados.</a:t>
                      </a:r>
                    </a:p>
                  </a:txBody>
                  <a:tcPr marL="4710" marR="4710" marT="471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079062"/>
                  </a:ext>
                </a:extLst>
              </a:tr>
              <a:tr h="332812">
                <a:tc grid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Exames de Abdômen Total (Superior e Pelve) serão cobrados como 2 exames. Sempre importante o pedido médico em sistema.</a:t>
                      </a:r>
                    </a:p>
                  </a:txBody>
                  <a:tcPr marL="4710" marR="4710" marT="471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654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98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D3C95F-962A-8209-9CA9-92346F01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A9B3017-2960-DD41-11BD-F41278109F38}"/>
              </a:ext>
            </a:extLst>
          </p:cNvPr>
          <p:cNvSpPr/>
          <p:nvPr/>
        </p:nvSpPr>
        <p:spPr>
          <a:xfrm>
            <a:off x="5088850" y="1556706"/>
            <a:ext cx="13843000" cy="0"/>
          </a:xfrm>
          <a:custGeom>
            <a:avLst/>
            <a:gdLst/>
            <a:ahLst/>
            <a:cxnLst/>
            <a:rect l="l" t="t" r="r" b="b"/>
            <a:pathLst>
              <a:path w="13843000">
                <a:moveTo>
                  <a:pt x="0" y="0"/>
                </a:moveTo>
                <a:lnTo>
                  <a:pt x="13842510" y="0"/>
                </a:lnTo>
              </a:path>
            </a:pathLst>
          </a:custGeom>
          <a:ln w="20941">
            <a:solidFill>
              <a:srgbClr val="0D12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F405757-362E-439B-EFBA-D426A9B6A985}"/>
              </a:ext>
            </a:extLst>
          </p:cNvPr>
          <p:cNvSpPr txBox="1"/>
          <p:nvPr/>
        </p:nvSpPr>
        <p:spPr>
          <a:xfrm>
            <a:off x="14976896" y="1081716"/>
            <a:ext cx="3718560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950" spc="-10">
                <a:solidFill>
                  <a:srgbClr val="2B2B74"/>
                </a:solidFill>
                <a:latin typeface="Verdana"/>
                <a:cs typeface="Verdana"/>
              </a:rPr>
              <a:t>PROPOSTA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|</a:t>
            </a:r>
            <a:r>
              <a:rPr sz="950" spc="2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X</a:t>
            </a:r>
            <a:r>
              <a:rPr sz="950" spc="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2B2B74"/>
                </a:solidFill>
                <a:latin typeface="Verdana"/>
                <a:cs typeface="Verdana"/>
              </a:rPr>
              <a:t>B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2B2B74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6" name="object 6" descr="Imagem">
            <a:extLst>
              <a:ext uri="{FF2B5EF4-FFF2-40B4-BE49-F238E27FC236}">
                <a16:creationId xmlns:a16="http://schemas.microsoft.com/office/drawing/2014/main" id="{D5BF881E-F3F1-68ED-3309-33C426DCAE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661" y="871324"/>
            <a:ext cx="2303594" cy="582244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D0C42D7-F14C-604F-0CBE-576604716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827469"/>
              </p:ext>
            </p:extLst>
          </p:nvPr>
        </p:nvGraphicFramePr>
        <p:xfrm>
          <a:off x="3003594" y="1764410"/>
          <a:ext cx="14096912" cy="8858349"/>
        </p:xfrm>
        <a:graphic>
          <a:graphicData uri="http://schemas.openxmlformats.org/drawingml/2006/table">
            <a:tbl>
              <a:tblPr/>
              <a:tblGrid>
                <a:gridCol w="9015061">
                  <a:extLst>
                    <a:ext uri="{9D8B030D-6E8A-4147-A177-3AD203B41FA5}">
                      <a16:colId xmlns:a16="http://schemas.microsoft.com/office/drawing/2014/main" val="436359354"/>
                    </a:ext>
                  </a:extLst>
                </a:gridCol>
                <a:gridCol w="3202260">
                  <a:extLst>
                    <a:ext uri="{9D8B030D-6E8A-4147-A177-3AD203B41FA5}">
                      <a16:colId xmlns:a16="http://schemas.microsoft.com/office/drawing/2014/main" val="3214748685"/>
                    </a:ext>
                  </a:extLst>
                </a:gridCol>
                <a:gridCol w="1879591">
                  <a:extLst>
                    <a:ext uri="{9D8B030D-6E8A-4147-A177-3AD203B41FA5}">
                      <a16:colId xmlns:a16="http://schemas.microsoft.com/office/drawing/2014/main" val="368972739"/>
                    </a:ext>
                  </a:extLst>
                </a:gridCol>
              </a:tblGrid>
              <a:tr h="7412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300" b="1" i="0" u="none" strike="noStrike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Procedimento </a:t>
                      </a:r>
                    </a:p>
                  </a:txBody>
                  <a:tcPr marL="20887" marR="20887" marT="17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300" b="1" i="0" u="none" strike="noStrike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 Valor Por Exame </a:t>
                      </a:r>
                    </a:p>
                  </a:txBody>
                  <a:tcPr marL="20887" marR="20887" marT="17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300" b="1" i="0" u="none" strike="noStrike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</a:rPr>
                        <a:t> Prazo de Liberação </a:t>
                      </a:r>
                    </a:p>
                  </a:txBody>
                  <a:tcPr marL="20887" marR="20887" marT="17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542897"/>
                  </a:ext>
                </a:extLst>
              </a:tr>
              <a:tr h="494451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EXAMES ESPECIALIZADOS </a:t>
                      </a:r>
                    </a:p>
                  </a:txBody>
                  <a:tcPr marL="88107" marR="88107" marT="44053" marB="4405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873101"/>
                  </a:ext>
                </a:extLst>
              </a:tr>
              <a:tr h="6402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Tomossíntese Mamária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#Tomossíntese Mamária#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48h úteis 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475307"/>
                  </a:ext>
                </a:extLst>
              </a:tr>
              <a:tr h="86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Ressonância Magnética Cardíaca 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#Ressonância Magnética </a:t>
                      </a:r>
                      <a:r>
                        <a:rPr lang="pt-BR" sz="23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Cardiaca</a:t>
                      </a: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#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48h úteis 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694449"/>
                  </a:ext>
                </a:extLst>
              </a:tr>
              <a:tr h="5002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Ressonância Magnética de Mamas (Bilateral)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#Ressonancia Magnética de Mamas (Bilateral)#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48h úteis 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251909"/>
                  </a:ext>
                </a:extLst>
              </a:tr>
              <a:tr h="4671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Ressonância Magnética de Corpo Inteiro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#Ressonancia Magnética de Corpo Inteiro#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48h úteis 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052280"/>
                  </a:ext>
                </a:extLst>
              </a:tr>
              <a:tr h="2253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Tomografia de Corpo Inteiro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#Tomografia de Corpo Inteiro#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48h úteis 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75729"/>
                  </a:ext>
                </a:extLst>
              </a:tr>
              <a:tr h="5532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PET-CT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#PET-CT#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72h úteis </a:t>
                      </a:r>
                    </a:p>
                  </a:txBody>
                  <a:tcPr marL="20887" marR="20887" marT="17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90008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PET-CT AMILÓIDE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#PET-CT AMILÓIDE#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72h úteis </a:t>
                      </a:r>
                    </a:p>
                  </a:txBody>
                  <a:tcPr marL="20887" marR="20887" marT="17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34194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CINTILOGRAFIA GERAL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#CINTILOGRAFIA GERAL#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72h úteis </a:t>
                      </a:r>
                    </a:p>
                  </a:txBody>
                  <a:tcPr marL="20887" marR="20887" marT="17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523665"/>
                  </a:ext>
                </a:extLst>
              </a:tr>
              <a:tr h="3478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CINTILOGRAFIA DO MIOCÁRDIO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#CINTILOGRAFIA DO MIOCÁRDIO#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72h úteis </a:t>
                      </a:r>
                    </a:p>
                  </a:txBody>
                  <a:tcPr marL="20887" marR="20887" marT="17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644860"/>
                  </a:ext>
                </a:extLst>
              </a:tr>
              <a:tr h="7412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CINTILOGRAFIA COM TRODAT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#CINTILOGRAFIA COM TRODAT#</a:t>
                      </a:r>
                    </a:p>
                  </a:txBody>
                  <a:tcPr marL="20887" marR="20887" marT="1788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72h úteis </a:t>
                      </a:r>
                    </a:p>
                  </a:txBody>
                  <a:tcPr marL="20887" marR="20887" marT="17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421939"/>
                  </a:ext>
                </a:extLst>
              </a:tr>
              <a:tr h="3795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887" marR="20887" marT="17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887" marR="20887" marT="17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887" marR="20887" marT="178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184396"/>
                  </a:ext>
                </a:extLst>
              </a:tr>
              <a:tr h="49445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Exames de Abdômen Total (Superior e Pelve) serão cobrados como 2 exames.</a:t>
                      </a:r>
                    </a:p>
                  </a:txBody>
                  <a:tcPr marL="88107" marR="88107" marT="44053" marB="4405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0887" marR="20887" marT="178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62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66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857191-2F98-ED0D-B09D-5A7897641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B4459F9-2940-C7D1-1363-348E278478C3}"/>
              </a:ext>
            </a:extLst>
          </p:cNvPr>
          <p:cNvSpPr/>
          <p:nvPr/>
        </p:nvSpPr>
        <p:spPr>
          <a:xfrm>
            <a:off x="5088850" y="1556706"/>
            <a:ext cx="13843000" cy="0"/>
          </a:xfrm>
          <a:custGeom>
            <a:avLst/>
            <a:gdLst/>
            <a:ahLst/>
            <a:cxnLst/>
            <a:rect l="l" t="t" r="r" b="b"/>
            <a:pathLst>
              <a:path w="13843000">
                <a:moveTo>
                  <a:pt x="0" y="0"/>
                </a:moveTo>
                <a:lnTo>
                  <a:pt x="13842510" y="0"/>
                </a:lnTo>
              </a:path>
            </a:pathLst>
          </a:custGeom>
          <a:ln w="20941">
            <a:solidFill>
              <a:srgbClr val="0D12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EC2292B-29A4-AD52-D4BF-FD440EE35D6B}"/>
              </a:ext>
            </a:extLst>
          </p:cNvPr>
          <p:cNvSpPr txBox="1"/>
          <p:nvPr/>
        </p:nvSpPr>
        <p:spPr>
          <a:xfrm>
            <a:off x="14976896" y="1081716"/>
            <a:ext cx="3718560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950" spc="-10">
                <a:solidFill>
                  <a:srgbClr val="2B2B74"/>
                </a:solidFill>
                <a:latin typeface="Verdana"/>
                <a:cs typeface="Verdana"/>
              </a:rPr>
              <a:t>PROPOSTA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|</a:t>
            </a:r>
            <a:r>
              <a:rPr sz="950" spc="2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X</a:t>
            </a:r>
            <a:r>
              <a:rPr sz="950" spc="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2B2B74"/>
                </a:solidFill>
                <a:latin typeface="Verdana"/>
                <a:cs typeface="Verdana"/>
              </a:rPr>
              <a:t>B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2B2B74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6" name="object 6" descr="Imagem">
            <a:extLst>
              <a:ext uri="{FF2B5EF4-FFF2-40B4-BE49-F238E27FC236}">
                <a16:creationId xmlns:a16="http://schemas.microsoft.com/office/drawing/2014/main" id="{35A8D3AC-B898-FC48-6303-EF54F89812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661" y="871324"/>
            <a:ext cx="2303594" cy="582244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8882CC60-05AA-D9F1-26B5-632612D9C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159373"/>
              </p:ext>
            </p:extLst>
          </p:nvPr>
        </p:nvGraphicFramePr>
        <p:xfrm>
          <a:off x="2660650" y="2109366"/>
          <a:ext cx="15377896" cy="8328660"/>
        </p:xfrm>
        <a:graphic>
          <a:graphicData uri="http://schemas.openxmlformats.org/drawingml/2006/table">
            <a:tbl>
              <a:tblPr/>
              <a:tblGrid>
                <a:gridCol w="4660929">
                  <a:extLst>
                    <a:ext uri="{9D8B030D-6E8A-4147-A177-3AD203B41FA5}">
                      <a16:colId xmlns:a16="http://schemas.microsoft.com/office/drawing/2014/main" val="286523163"/>
                    </a:ext>
                  </a:extLst>
                </a:gridCol>
                <a:gridCol w="2409732">
                  <a:extLst>
                    <a:ext uri="{9D8B030D-6E8A-4147-A177-3AD203B41FA5}">
                      <a16:colId xmlns:a16="http://schemas.microsoft.com/office/drawing/2014/main" val="2048704555"/>
                    </a:ext>
                  </a:extLst>
                </a:gridCol>
                <a:gridCol w="8307235">
                  <a:extLst>
                    <a:ext uri="{9D8B030D-6E8A-4147-A177-3AD203B41FA5}">
                      <a16:colId xmlns:a16="http://schemas.microsoft.com/office/drawing/2014/main" val="2341835619"/>
                    </a:ext>
                  </a:extLst>
                </a:gridCol>
              </a:tblGrid>
              <a:tr h="13126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Procedimento</a:t>
                      </a:r>
                    </a:p>
                  </a:txBody>
                  <a:tcPr marL="19025" marR="19025" marT="190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Prazo de Entrega</a:t>
                      </a:r>
                    </a:p>
                  </a:txBody>
                  <a:tcPr marL="19025" marR="19025" marT="190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Valor Unitário</a:t>
                      </a:r>
                    </a:p>
                  </a:txBody>
                  <a:tcPr marL="19025" marR="19025" marT="190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205186"/>
                  </a:ext>
                </a:extLst>
              </a:tr>
              <a:tr h="532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Eletrocardiograma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 minutos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#ELETROCARDIOGRAMA (ECG 10 MINUTOS)# 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766143"/>
                  </a:ext>
                </a:extLst>
              </a:tr>
              <a:tr h="532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Eletrocardiograma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horas úteis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#ELETROCARDIOGRAMA (ECG 24 HORAS)# 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421885"/>
                  </a:ext>
                </a:extLst>
              </a:tr>
              <a:tr h="532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MAPA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horas úteis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#MAPA# 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943052"/>
                  </a:ext>
                </a:extLst>
              </a:tr>
              <a:tr h="532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Holter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horas úteis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#HOLTER# 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00718"/>
                  </a:ext>
                </a:extLst>
              </a:tr>
              <a:tr h="532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Eletroencefalograma Simples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horas úteis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#ELETROENCEFALOGRAMA SIMPLES# 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417586"/>
                  </a:ext>
                </a:extLst>
              </a:tr>
              <a:tr h="532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Eletroencefalograma Prolongado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horas úteis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#ELETROENCEFALOGRAMA PROLONGADO# 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877902"/>
                  </a:ext>
                </a:extLst>
              </a:tr>
              <a:tr h="532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Mapeamento Cerebral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horas úteis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#ELETROENCEFALOGRAMA COM MAPEAMENTO CEREBRAL# 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027437"/>
                  </a:ext>
                </a:extLst>
              </a:tr>
              <a:tr h="532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Espirometria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horas úteis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#ESPIROMETRIA# 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654597"/>
                  </a:ext>
                </a:extLst>
              </a:tr>
              <a:tr h="532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Espirometria com Broncodilatador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horas úteis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#ESPIROMETRIA COM BRONCODILATADOR# </a:t>
                      </a:r>
                    </a:p>
                  </a:txBody>
                  <a:tcPr marL="19025" marR="19025" marT="190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341246"/>
                  </a:ext>
                </a:extLst>
              </a:tr>
              <a:tr h="532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19025" marR="19025" marT="190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19025" marR="19025" marT="190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19025" marR="19025" marT="190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569647"/>
                  </a:ext>
                </a:extLst>
              </a:tr>
              <a:tr h="563070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* Nesses valores estão inclusos: instalação sistêmica, treinamento, acompanhamento e produção.</a:t>
                      </a:r>
                    </a:p>
                  </a:txBody>
                  <a:tcPr marL="105720" marR="105720" marT="52860" marB="5286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374469"/>
                  </a:ext>
                </a:extLst>
              </a:tr>
              <a:tr h="563070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** Para Laudos de Eletrocardiograma em 10 min atuamos nas 24 horas por dia.</a:t>
                      </a:r>
                    </a:p>
                  </a:txBody>
                  <a:tcPr marL="105720" marR="105720" marT="52860" marB="5286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273945"/>
                  </a:ext>
                </a:extLst>
              </a:tr>
              <a:tr h="563070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*** Não há volumetria mínima, demanda livre e cobrança feita a partir dos exames laudados.</a:t>
                      </a:r>
                    </a:p>
                  </a:txBody>
                  <a:tcPr marL="105720" marR="105720" marT="52860" marB="5286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184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83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9FA7B2F-8A99-02C4-930A-F560429CA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F0F97B0-6C5B-748C-3990-27C564FFBE7F}"/>
              </a:ext>
            </a:extLst>
          </p:cNvPr>
          <p:cNvSpPr/>
          <p:nvPr/>
        </p:nvSpPr>
        <p:spPr>
          <a:xfrm>
            <a:off x="5088850" y="1556706"/>
            <a:ext cx="13843000" cy="0"/>
          </a:xfrm>
          <a:custGeom>
            <a:avLst/>
            <a:gdLst/>
            <a:ahLst/>
            <a:cxnLst/>
            <a:rect l="l" t="t" r="r" b="b"/>
            <a:pathLst>
              <a:path w="13843000">
                <a:moveTo>
                  <a:pt x="0" y="0"/>
                </a:moveTo>
                <a:lnTo>
                  <a:pt x="13842510" y="0"/>
                </a:lnTo>
              </a:path>
            </a:pathLst>
          </a:custGeom>
          <a:ln w="20941">
            <a:solidFill>
              <a:srgbClr val="0D12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0863866-BC8E-D0FA-8D67-C8A0D4975906}"/>
              </a:ext>
            </a:extLst>
          </p:cNvPr>
          <p:cNvSpPr txBox="1"/>
          <p:nvPr/>
        </p:nvSpPr>
        <p:spPr>
          <a:xfrm>
            <a:off x="14976896" y="1081716"/>
            <a:ext cx="3718560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950" spc="-10">
                <a:solidFill>
                  <a:srgbClr val="2B2B74"/>
                </a:solidFill>
                <a:latin typeface="Verdana"/>
                <a:cs typeface="Verdana"/>
              </a:rPr>
              <a:t>PROPOSTA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O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E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R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C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28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|</a:t>
            </a:r>
            <a:r>
              <a:rPr sz="950" spc="2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L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0">
                <a:solidFill>
                  <a:srgbClr val="2B2B74"/>
                </a:solidFill>
                <a:latin typeface="Verdana"/>
                <a:cs typeface="Verdana"/>
              </a:rPr>
              <a:t>U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M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75">
                <a:solidFill>
                  <a:srgbClr val="2B2B74"/>
                </a:solidFill>
                <a:latin typeface="Verdana"/>
                <a:cs typeface="Verdana"/>
              </a:rPr>
              <a:t>I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X</a:t>
            </a:r>
            <a:r>
              <a:rPr sz="950" spc="26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35">
                <a:solidFill>
                  <a:srgbClr val="2B2B74"/>
                </a:solidFill>
                <a:latin typeface="Verdana"/>
                <a:cs typeface="Verdana"/>
              </a:rPr>
              <a:t>B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>
                <a:solidFill>
                  <a:srgbClr val="2B2B74"/>
                </a:solidFill>
                <a:latin typeface="Verdana"/>
                <a:cs typeface="Verdana"/>
              </a:rPr>
              <a:t>Y</a:t>
            </a:r>
            <a:r>
              <a:rPr sz="950" spc="25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75">
                <a:solidFill>
                  <a:srgbClr val="2B2B74"/>
                </a:solidFill>
                <a:latin typeface="Verdana"/>
                <a:cs typeface="Verdana"/>
              </a:rPr>
              <a:t>D</a:t>
            </a:r>
            <a:r>
              <a:rPr sz="950" spc="-14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1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r>
              <a:rPr sz="950" spc="-140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60">
                <a:solidFill>
                  <a:srgbClr val="2B2B74"/>
                </a:solidFill>
                <a:latin typeface="Verdana"/>
                <a:cs typeface="Verdana"/>
              </a:rPr>
              <a:t>S</a:t>
            </a:r>
            <a:r>
              <a:rPr sz="950" spc="-135">
                <a:solidFill>
                  <a:srgbClr val="2B2B74"/>
                </a:solidFill>
                <a:latin typeface="Verdana"/>
                <a:cs typeface="Verdana"/>
              </a:rPr>
              <a:t> </a:t>
            </a:r>
            <a:r>
              <a:rPr sz="950" spc="-50">
                <a:solidFill>
                  <a:srgbClr val="2B2B74"/>
                </a:solidFill>
                <a:latin typeface="Verdana"/>
                <a:cs typeface="Verdana"/>
              </a:rPr>
              <a:t>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6" name="object 6" descr="Imagem">
            <a:extLst>
              <a:ext uri="{FF2B5EF4-FFF2-40B4-BE49-F238E27FC236}">
                <a16:creationId xmlns:a16="http://schemas.microsoft.com/office/drawing/2014/main" id="{1736DE7E-7BD2-F978-E1F2-9357598449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661" y="871324"/>
            <a:ext cx="2303594" cy="582244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CD6A507C-2D63-8E20-A9C0-318213B68334}"/>
              </a:ext>
            </a:extLst>
          </p:cNvPr>
          <p:cNvSpPr txBox="1"/>
          <p:nvPr/>
        </p:nvSpPr>
        <p:spPr>
          <a:xfrm>
            <a:off x="852825" y="2835275"/>
            <a:ext cx="18398450" cy="6216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rtl="0"/>
            <a:r>
              <a:rPr lang="pt-BR" sz="2400" b="1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CNPJ:   #CNPJ# #ID# RAZÃO SOCIAL: #RAZÃO SOCIAL#</a:t>
            </a:r>
          </a:p>
          <a:p>
            <a:pPr algn="l" rtl="0"/>
            <a:endParaRPr lang="pt-BR" sz="2400" b="1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  <a:spcBef>
                <a:spcPts val="100"/>
              </a:spcBef>
            </a:pPr>
            <a:r>
              <a:rPr lang="pt-BR" sz="2400" b="1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Taxa de Implantação: </a:t>
            </a:r>
            <a:r>
              <a:rPr lang="pt-BR" sz="2400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Não há.</a:t>
            </a:r>
          </a:p>
          <a:p>
            <a:pPr marL="12700" algn="l" rtl="0">
              <a:lnSpc>
                <a:spcPts val="1910"/>
              </a:lnSpc>
              <a:spcBef>
                <a:spcPts val="100"/>
              </a:spcBef>
            </a:pPr>
            <a:endParaRPr lang="pt-BR" sz="2400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  <a:spcBef>
                <a:spcPts val="100"/>
              </a:spcBef>
            </a:pPr>
            <a:endParaRPr lang="pt-BR" sz="2400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  <a:spcBef>
                <a:spcPts val="100"/>
              </a:spcBef>
            </a:pPr>
            <a:r>
              <a:rPr lang="pt-BR" sz="2400" b="1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Proposta: </a:t>
            </a:r>
            <a:r>
              <a:rPr lang="pt-BR" sz="2400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Conforme produção.</a:t>
            </a:r>
          </a:p>
          <a:p>
            <a:pPr marL="12700" algn="l" rtl="0">
              <a:lnSpc>
                <a:spcPts val="1910"/>
              </a:lnSpc>
              <a:spcBef>
                <a:spcPts val="100"/>
              </a:spcBef>
            </a:pPr>
            <a:endParaRPr lang="pt-BR" sz="2400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  <a:spcBef>
                <a:spcPts val="100"/>
              </a:spcBef>
            </a:pPr>
            <a:endParaRPr lang="pt-BR" sz="2400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  <a:spcBef>
                <a:spcPts val="100"/>
              </a:spcBef>
            </a:pPr>
            <a:r>
              <a:rPr lang="pt-BR" sz="2400" b="1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Prazo de pagamento: </a:t>
            </a:r>
            <a:r>
              <a:rPr lang="pt-BR" sz="2400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Mês subsequente a prestação de serviços até 10 dia útil do mês.</a:t>
            </a:r>
          </a:p>
          <a:p>
            <a:pPr marL="12700" algn="l" rtl="0">
              <a:lnSpc>
                <a:spcPts val="1910"/>
              </a:lnSpc>
              <a:spcBef>
                <a:spcPts val="100"/>
              </a:spcBef>
            </a:pPr>
            <a:endParaRPr lang="pt-BR" sz="2400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00"/>
              </a:lnSpc>
            </a:pPr>
            <a:endParaRPr lang="pt-BR" sz="2400" b="1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00"/>
              </a:lnSpc>
            </a:pPr>
            <a:r>
              <a:rPr lang="pt-BR" sz="2400" b="1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Forma de pagamento: </a:t>
            </a:r>
            <a:r>
              <a:rPr lang="pt-BR" sz="2400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Boleto bancário.</a:t>
            </a:r>
          </a:p>
          <a:p>
            <a:pPr marL="12700" algn="l" rtl="0">
              <a:lnSpc>
                <a:spcPts val="1900"/>
              </a:lnSpc>
            </a:pPr>
            <a:endParaRPr lang="pt-BR" sz="2400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</a:pPr>
            <a:endParaRPr lang="pt-BR" sz="2400" b="1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</a:pPr>
            <a:r>
              <a:rPr lang="pt-BR" sz="2400" b="1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Faturamento e formato de faturamento: </a:t>
            </a:r>
            <a:r>
              <a:rPr lang="pt-BR" sz="2400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Mensal</a:t>
            </a:r>
          </a:p>
          <a:p>
            <a:pPr marL="12700" algn="l" rtl="0">
              <a:lnSpc>
                <a:spcPts val="1910"/>
              </a:lnSpc>
            </a:pPr>
            <a:endParaRPr lang="pt-BR" sz="2400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</a:pPr>
            <a:endParaRPr lang="pt-BR" sz="2400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</a:pPr>
            <a:r>
              <a:rPr lang="pt-BR" sz="2400" b="1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Prazo de contrato: </a:t>
            </a:r>
            <a:r>
              <a:rPr lang="pt-BR" sz="2400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1 ano com renovação automática.</a:t>
            </a:r>
          </a:p>
          <a:p>
            <a:pPr marL="12700" algn="l" rtl="0">
              <a:lnSpc>
                <a:spcPts val="1910"/>
              </a:lnSpc>
            </a:pPr>
            <a:endParaRPr lang="pt-BR" sz="2400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</a:pPr>
            <a:endParaRPr lang="pt-BR" sz="2400" b="1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</a:pPr>
            <a:r>
              <a:rPr lang="pt-BR" sz="2400" b="1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Prazo de implantação: </a:t>
            </a:r>
            <a:r>
              <a:rPr lang="pt-BR" sz="2400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30 dias após assinatura do contrato.</a:t>
            </a:r>
          </a:p>
          <a:p>
            <a:pPr marL="12700" algn="l" rtl="0">
              <a:lnSpc>
                <a:spcPts val="1910"/>
              </a:lnSpc>
            </a:pPr>
            <a:endParaRPr lang="pt-BR" sz="2400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</a:pPr>
            <a:endParaRPr lang="pt-BR" sz="2400" b="1" kern="1200" spc="-5">
              <a:solidFill>
                <a:srgbClr val="3D2892"/>
              </a:solidFill>
              <a:latin typeface="Tahoma"/>
              <a:ea typeface="+mn-ea"/>
              <a:cs typeface="Tahoma"/>
            </a:endParaRPr>
          </a:p>
          <a:p>
            <a:pPr marL="12700" algn="l" rtl="0">
              <a:lnSpc>
                <a:spcPts val="1910"/>
              </a:lnSpc>
            </a:pPr>
            <a:r>
              <a:rPr lang="pt-BR" sz="2400" b="1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Reajuste Anual: </a:t>
            </a:r>
            <a:r>
              <a:rPr lang="pt-BR" sz="2400" kern="1200" spc="-5">
                <a:solidFill>
                  <a:srgbClr val="3D2892"/>
                </a:solidFill>
                <a:latin typeface="Tahoma"/>
                <a:ea typeface="+mn-ea"/>
                <a:cs typeface="Tahoma"/>
              </a:rPr>
              <a:t>100% do IPCA.</a:t>
            </a:r>
          </a:p>
        </p:txBody>
      </p:sp>
    </p:spTree>
    <p:extLst>
      <p:ext uri="{BB962C8B-B14F-4D97-AF65-F5344CB8AC3E}">
        <p14:creationId xmlns:p14="http://schemas.microsoft.com/office/powerpoint/2010/main" val="16259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99079" y="0"/>
            <a:ext cx="10505440" cy="11308715"/>
            <a:chOff x="9599079" y="0"/>
            <a:chExt cx="10505440" cy="11308715"/>
          </a:xfrm>
        </p:grpSpPr>
        <p:sp>
          <p:nvSpPr>
            <p:cNvPr id="3" name="object 3"/>
            <p:cNvSpPr/>
            <p:nvPr/>
          </p:nvSpPr>
          <p:spPr>
            <a:xfrm>
              <a:off x="9599079" y="0"/>
              <a:ext cx="10505440" cy="11308715"/>
            </a:xfrm>
            <a:custGeom>
              <a:avLst/>
              <a:gdLst/>
              <a:ahLst/>
              <a:cxnLst/>
              <a:rect l="l" t="t" r="r" b="b"/>
              <a:pathLst>
                <a:path w="10505440" h="11308715">
                  <a:moveTo>
                    <a:pt x="10505020" y="0"/>
                  </a:moveTo>
                  <a:lnTo>
                    <a:pt x="827617" y="0"/>
                  </a:lnTo>
                  <a:lnTo>
                    <a:pt x="778992" y="1404"/>
                  </a:lnTo>
                  <a:lnTo>
                    <a:pt x="731105" y="5566"/>
                  </a:lnTo>
                  <a:lnTo>
                    <a:pt x="684036" y="12409"/>
                  </a:lnTo>
                  <a:lnTo>
                    <a:pt x="637861" y="21853"/>
                  </a:lnTo>
                  <a:lnTo>
                    <a:pt x="592659" y="33823"/>
                  </a:lnTo>
                  <a:lnTo>
                    <a:pt x="548507" y="48239"/>
                  </a:lnTo>
                  <a:lnTo>
                    <a:pt x="505483" y="65025"/>
                  </a:lnTo>
                  <a:lnTo>
                    <a:pt x="463664" y="84104"/>
                  </a:lnTo>
                  <a:lnTo>
                    <a:pt x="423129" y="105396"/>
                  </a:lnTo>
                  <a:lnTo>
                    <a:pt x="383954" y="128826"/>
                  </a:lnTo>
                  <a:lnTo>
                    <a:pt x="346217" y="154315"/>
                  </a:lnTo>
                  <a:lnTo>
                    <a:pt x="309996" y="181785"/>
                  </a:lnTo>
                  <a:lnTo>
                    <a:pt x="275369" y="211160"/>
                  </a:lnTo>
                  <a:lnTo>
                    <a:pt x="242414" y="242361"/>
                  </a:lnTo>
                  <a:lnTo>
                    <a:pt x="211207" y="275311"/>
                  </a:lnTo>
                  <a:lnTo>
                    <a:pt x="181827" y="309933"/>
                  </a:lnTo>
                  <a:lnTo>
                    <a:pt x="154351" y="346148"/>
                  </a:lnTo>
                  <a:lnTo>
                    <a:pt x="128856" y="383879"/>
                  </a:lnTo>
                  <a:lnTo>
                    <a:pt x="105422" y="423049"/>
                  </a:lnTo>
                  <a:lnTo>
                    <a:pt x="84124" y="463580"/>
                  </a:lnTo>
                  <a:lnTo>
                    <a:pt x="65042" y="505395"/>
                  </a:lnTo>
                  <a:lnTo>
                    <a:pt x="48251" y="548415"/>
                  </a:lnTo>
                  <a:lnTo>
                    <a:pt x="33831" y="592563"/>
                  </a:lnTo>
                  <a:lnTo>
                    <a:pt x="21859" y="637763"/>
                  </a:lnTo>
                  <a:lnTo>
                    <a:pt x="12412" y="683935"/>
                  </a:lnTo>
                  <a:lnTo>
                    <a:pt x="5568" y="731002"/>
                  </a:lnTo>
                  <a:lnTo>
                    <a:pt x="1405" y="778888"/>
                  </a:lnTo>
                  <a:lnTo>
                    <a:pt x="0" y="827514"/>
                  </a:lnTo>
                  <a:lnTo>
                    <a:pt x="0" y="10481000"/>
                  </a:lnTo>
                  <a:lnTo>
                    <a:pt x="1405" y="10529625"/>
                  </a:lnTo>
                  <a:lnTo>
                    <a:pt x="5568" y="10577510"/>
                  </a:lnTo>
                  <a:lnTo>
                    <a:pt x="12412" y="10624577"/>
                  </a:lnTo>
                  <a:lnTo>
                    <a:pt x="21859" y="10670750"/>
                  </a:lnTo>
                  <a:lnTo>
                    <a:pt x="33831" y="10715950"/>
                  </a:lnTo>
                  <a:lnTo>
                    <a:pt x="48251" y="10760099"/>
                  </a:lnTo>
                  <a:lnTo>
                    <a:pt x="65042" y="10803120"/>
                  </a:lnTo>
                  <a:lnTo>
                    <a:pt x="84124" y="10844936"/>
                  </a:lnTo>
                  <a:lnTo>
                    <a:pt x="105422" y="10885469"/>
                  </a:lnTo>
                  <a:lnTo>
                    <a:pt x="128856" y="10924641"/>
                  </a:lnTo>
                  <a:lnTo>
                    <a:pt x="154351" y="10962375"/>
                  </a:lnTo>
                  <a:lnTo>
                    <a:pt x="181827" y="10998592"/>
                  </a:lnTo>
                  <a:lnTo>
                    <a:pt x="211207" y="11033216"/>
                  </a:lnTo>
                  <a:lnTo>
                    <a:pt x="242414" y="11066168"/>
                  </a:lnTo>
                  <a:lnTo>
                    <a:pt x="275369" y="11097372"/>
                  </a:lnTo>
                  <a:lnTo>
                    <a:pt x="309996" y="11126749"/>
                  </a:lnTo>
                  <a:lnTo>
                    <a:pt x="346217" y="11154222"/>
                  </a:lnTo>
                  <a:lnTo>
                    <a:pt x="383954" y="11179714"/>
                  </a:lnTo>
                  <a:lnTo>
                    <a:pt x="423129" y="11203146"/>
                  </a:lnTo>
                  <a:lnTo>
                    <a:pt x="463664" y="11224440"/>
                  </a:lnTo>
                  <a:lnTo>
                    <a:pt x="505483" y="11243521"/>
                  </a:lnTo>
                  <a:lnTo>
                    <a:pt x="548507" y="11260309"/>
                  </a:lnTo>
                  <a:lnTo>
                    <a:pt x="592659" y="11274727"/>
                  </a:lnTo>
                  <a:lnTo>
                    <a:pt x="637861" y="11286698"/>
                  </a:lnTo>
                  <a:lnTo>
                    <a:pt x="684036" y="11296144"/>
                  </a:lnTo>
                  <a:lnTo>
                    <a:pt x="731105" y="11302987"/>
                  </a:lnTo>
                  <a:lnTo>
                    <a:pt x="778992" y="11307150"/>
                  </a:lnTo>
                  <a:lnTo>
                    <a:pt x="827618" y="11308555"/>
                  </a:lnTo>
                  <a:lnTo>
                    <a:pt x="10505020" y="11308555"/>
                  </a:lnTo>
                  <a:lnTo>
                    <a:pt x="10505020" y="0"/>
                  </a:lnTo>
                  <a:close/>
                </a:path>
              </a:pathLst>
            </a:custGeom>
            <a:solidFill>
              <a:srgbClr val="2B2B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 descr="Imagem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79100" y="9514234"/>
              <a:ext cx="3370996" cy="85202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79637" y="3749675"/>
            <a:ext cx="8408670" cy="2839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200" b="1" spc="-130">
                <a:solidFill>
                  <a:srgbClr val="FFFFFF"/>
                </a:solidFill>
                <a:latin typeface="Tahoma"/>
                <a:cs typeface="Tahoma"/>
              </a:rPr>
              <a:t>Vamos</a:t>
            </a:r>
            <a:r>
              <a:rPr sz="9200" b="1" spc="-10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200" b="1" spc="-10">
                <a:solidFill>
                  <a:srgbClr val="FFFFFF"/>
                </a:solidFill>
                <a:latin typeface="Tahoma"/>
                <a:cs typeface="Tahoma"/>
              </a:rPr>
              <a:t>crescer</a:t>
            </a:r>
            <a:endParaRPr sz="9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9200" spc="-490">
                <a:solidFill>
                  <a:srgbClr val="FFFFFF"/>
                </a:solidFill>
                <a:latin typeface="Verdana"/>
                <a:cs typeface="Verdana"/>
              </a:rPr>
              <a:t>juntos?</a:t>
            </a:r>
            <a:endParaRPr sz="9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66442" y="3279155"/>
            <a:ext cx="8253730" cy="295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sz="4450" spc="-75">
                <a:solidFill>
                  <a:srgbClr val="FFFFFF"/>
                </a:solidFill>
                <a:latin typeface="Verdana"/>
                <a:cs typeface="Verdana"/>
              </a:rPr>
              <a:t>Contato</a:t>
            </a:r>
            <a:endParaRPr sz="4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775"/>
              </a:spcBef>
            </a:pPr>
            <a:r>
              <a:rPr lang="pt-BR" sz="2950" b="1" spc="-45">
                <a:solidFill>
                  <a:srgbClr val="FFFFFF"/>
                </a:solidFill>
                <a:latin typeface="Tahoma"/>
                <a:cs typeface="Tahoma"/>
              </a:rPr>
              <a:t>#RESPONSAVEL#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950" spc="-18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lang="pt-BR" sz="2950" spc="-180" err="1">
                <a:solidFill>
                  <a:srgbClr val="FFFFFF"/>
                </a:solidFill>
                <a:latin typeface="Verdana"/>
                <a:cs typeface="Verdana"/>
              </a:rPr>
              <a:t>specialista</a:t>
            </a:r>
            <a:r>
              <a:rPr lang="pt-BR" sz="295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pt-BR" sz="2950" spc="-180" err="1">
                <a:solidFill>
                  <a:srgbClr val="FFFFFF"/>
                </a:solidFill>
                <a:latin typeface="Verdana"/>
                <a:cs typeface="Verdana"/>
              </a:rPr>
              <a:t>Lumiax</a:t>
            </a:r>
            <a:endParaRPr sz="2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75"/>
              </a:spcBef>
            </a:pPr>
            <a:r>
              <a:rPr lang="pt-BR" sz="2950" spc="-180">
                <a:solidFill>
                  <a:srgbClr val="FFFFFF"/>
                </a:solidFill>
                <a:latin typeface="Verdana"/>
                <a:cs typeface="Verdana"/>
              </a:rPr>
              <a:t>#EMAIL# </a:t>
            </a:r>
            <a:r>
              <a:rPr sz="2950" spc="-295">
                <a:solidFill>
                  <a:srgbClr val="FFFFFF"/>
                </a:solidFill>
                <a:latin typeface="Verdana"/>
                <a:cs typeface="Verdana"/>
              </a:rPr>
              <a:t>|</a:t>
            </a:r>
            <a:r>
              <a:rPr sz="2950" spc="-3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pt-BR" sz="2950" spc="-180">
                <a:solidFill>
                  <a:srgbClr val="FFFFFF"/>
                </a:solidFill>
                <a:latin typeface="Verdana"/>
              </a:rPr>
              <a:t>#TELEFONE#</a:t>
            </a:r>
            <a:endParaRPr sz="2950" spc="-180">
              <a:solidFill>
                <a:srgbClr val="FFFFFF"/>
              </a:solidFill>
              <a:latin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4F4F8839E7C774D9C975E617EEA615B" ma:contentTypeVersion="11" ma:contentTypeDescription="Crie um novo documento." ma:contentTypeScope="" ma:versionID="4fa707d197ba65daec869eb7e102d892">
  <xsd:schema xmlns:xsd="http://www.w3.org/2001/XMLSchema" xmlns:xs="http://www.w3.org/2001/XMLSchema" xmlns:p="http://schemas.microsoft.com/office/2006/metadata/properties" xmlns:ns2="efd3c730-6723-402d-94f1-ee6347b6b431" xmlns:ns3="41a6976c-f92e-40dd-a887-71c52ee2185e" targetNamespace="http://schemas.microsoft.com/office/2006/metadata/properties" ma:root="true" ma:fieldsID="480c202d75ba22b8498df5da357958f4" ns2:_="" ns3:_="">
    <xsd:import namespace="efd3c730-6723-402d-94f1-ee6347b6b431"/>
    <xsd:import namespace="41a6976c-f92e-40dd-a887-71c52ee218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d3c730-6723-402d-94f1-ee6347b6b4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1c848089-3da5-4ab2-83d0-aa8d5bdd9e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a6976c-f92e-40dd-a887-71c52ee2185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dc6450d-2e93-44ee-a130-f1d4f1c67e18}" ma:internalName="TaxCatchAll" ma:showField="CatchAllData" ma:web="41a6976c-f92e-40dd-a887-71c52ee218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fd3c730-6723-402d-94f1-ee6347b6b431">
      <Terms xmlns="http://schemas.microsoft.com/office/infopath/2007/PartnerControls"/>
    </lcf76f155ced4ddcb4097134ff3c332f>
    <TaxCatchAll xmlns="41a6976c-f92e-40dd-a887-71c52ee2185e" xsi:nil="true"/>
  </documentManagement>
</p:properties>
</file>

<file path=customXml/itemProps1.xml><?xml version="1.0" encoding="utf-8"?>
<ds:datastoreItem xmlns:ds="http://schemas.openxmlformats.org/officeDocument/2006/customXml" ds:itemID="{B79DDAA5-11BA-4031-A75C-FE1BC97580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1D1585-4DAD-446F-89D6-B2056B2FC1FE}">
  <ds:schemaRefs>
    <ds:schemaRef ds:uri="41a6976c-f92e-40dd-a887-71c52ee2185e"/>
    <ds:schemaRef ds:uri="efd3c730-6723-402d-94f1-ee6347b6b4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78428F5-581B-4BB9-890A-3A8D0F7CB8DF}">
  <ds:schemaRefs>
    <ds:schemaRef ds:uri="41a6976c-f92e-40dd-a887-71c52ee2185e"/>
    <ds:schemaRef ds:uri="efd3c730-6723-402d-94f1-ee6347b6b431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f41c4a4c-314b-499d-9a7a-39581944c704}" enabled="0" method="" siteId="{f41c4a4c-314b-499d-9a7a-39581944c70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1523</Words>
  <Application>Microsoft Office PowerPoint</Application>
  <PresentationFormat>Personalizar</PresentationFormat>
  <Paragraphs>259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Aptos</vt:lpstr>
      <vt:lpstr>Aptos Narrow</vt:lpstr>
      <vt:lpstr>Calibri</vt:lpstr>
      <vt:lpstr>Segoe UI</vt:lpstr>
      <vt:lpstr>Tahoma</vt:lpstr>
      <vt:lpstr>Verdana</vt:lpstr>
      <vt:lpstr>Office Theme</vt:lpstr>
      <vt:lpstr>Apresentação do PowerPoint</vt:lpstr>
      <vt:lpstr>Apresentação do PowerPoint</vt:lpstr>
      <vt:lpstr>Apresentação do PowerPoint</vt:lpstr>
      <vt:lpstr>Transformando tecnologia em resultados clínicos e operacionais</vt:lpstr>
      <vt:lpstr>Escala que gera confiança: Mais de 7,4 milhões de exames laudados por ano</vt:lpstr>
      <vt:lpstr>7.403.955 Exames de Imagem</vt:lpstr>
      <vt:lpstr>Corpo Clínico e Liderança Estratégica</vt:lpstr>
      <vt:lpstr>Cobertura completa para sua clínica ou hospital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Gilmor Da Silva</dc:creator>
  <cp:lastModifiedBy>Kevin William dos Santos Razera</cp:lastModifiedBy>
  <cp:revision>1</cp:revision>
  <dcterms:created xsi:type="dcterms:W3CDTF">2026-08-07T13:38:21Z</dcterms:created>
  <dcterms:modified xsi:type="dcterms:W3CDTF">2026-09-02T14:16:04Z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2026-06-15T00:00:00Z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2026-08-07T00:00:00Z</vt:filetime>
  </property>
  <property fmtid="{D5CDD505-2E9C-101B-9397-08002B2CF9AE}" pid="6" name="Producer">
    <vt:lpwstr>Microsoft® PowerPoint® para Microsoft 365</vt:lpwstr>
  </property>
  <property fmtid="{D5CDD505-2E9C-101B-9397-08002B2CF9AE}" pid="7" name="ContentTypeId">
    <vt:lpwstr>0x01010004F4F8839E7C774D9C975E617EEA615B</vt:lpwstr>
  </property>
  <property fmtid="{D5CDD505-2E9C-101B-9397-08002B2CF9AE}" pid="8" name="MediaServiceImageTags">
    <vt:lpwstr/>
  </property>
</Properties>
</file>